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9" r:id="rId7"/>
    <p:sldId id="261" r:id="rId8"/>
    <p:sldId id="273" r:id="rId9"/>
    <p:sldId id="271" r:id="rId10"/>
    <p:sldId id="272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4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4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8954-4105-97CD-8E8F-BF845EA1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0BC41-11BF-5719-38FC-EB38E2AE2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99452-9AC4-2073-05EF-AC167F247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C7534-2AA4-E1B1-F22E-19CACB8B2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7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5D99-E312-922C-A101-BCC40DE3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65157-4AF1-465F-5BEE-5FF00DCDC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7E7F1-040A-A5F2-60B1-F43926D76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0D493-A04A-0EC0-9C69-E574AF37D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17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94B2-40B0-E3D2-00DB-53D27A44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39BA5-1DF9-CD04-B7EB-F6AC28DCE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8A362-D16B-BA41-2152-5F42D16F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BEE0A-2FC9-C369-71C7-082619577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50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6BFD-E37F-9C9D-3538-8A164FE3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60F8D-DEA1-3458-F45C-23BDEFFD7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3A997-176B-1AC5-D24D-00DC5A358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67A24-D845-9E53-FBED-AA6B95C40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83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4F138-7248-2982-B7D4-E9ED29B0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23364-BD33-F6E8-F5F4-5124B069B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0F0B4-25B6-BE97-E70A-7A888F8E6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10C8B-4901-3979-CD59-3E6D84E6A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99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07963" y="10287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랜드마크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07963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전이학습 비교 프로젝트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7963" y="2811780"/>
            <a:ext cx="41148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07963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D팀  |  신연주 · 김민진 · 김유진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7963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시냅스 2기  |  서울 랜드마크 팀프로젝트</a:t>
            </a:r>
            <a:endParaRPr lang="en-US" sz="13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ABA4ECE-3F73-4717-0413-19447FEC6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623" y="0"/>
            <a:ext cx="328751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6">
            <a:extLst>
              <a:ext uri="{FF2B5EF4-FFF2-40B4-BE49-F238E27FC236}">
                <a16:creationId xmlns:a16="http://schemas.microsoft.com/office/drawing/2014/main" id="{3EEDE0DF-56B4-E1FE-65A3-A1FDDD23B1BD}"/>
              </a:ext>
            </a:extLst>
          </p:cNvPr>
          <p:cNvSpPr/>
          <p:nvPr/>
        </p:nvSpPr>
        <p:spPr>
          <a:xfrm>
            <a:off x="438912" y="3006969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C003E06C-1924-4434-5BD8-22A73C0FE60E}"/>
              </a:ext>
            </a:extLst>
          </p:cNvPr>
          <p:cNvSpPr/>
          <p:nvPr/>
        </p:nvSpPr>
        <p:spPr>
          <a:xfrm>
            <a:off x="438912" y="3692769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4376CDB3-028F-30C6-66E1-2D80A160AA03}"/>
              </a:ext>
            </a:extLst>
          </p:cNvPr>
          <p:cNvSpPr/>
          <p:nvPr/>
        </p:nvSpPr>
        <p:spPr>
          <a:xfrm>
            <a:off x="4846320" y="2344029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5D7F5E81-9689-CD68-7E26-0FEA0D03432A}"/>
              </a:ext>
            </a:extLst>
          </p:cNvPr>
          <p:cNvSpPr/>
          <p:nvPr/>
        </p:nvSpPr>
        <p:spPr>
          <a:xfrm>
            <a:off x="4864608" y="1671417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CFA841AF-5BCD-A7C1-080B-F478B70742A0}"/>
              </a:ext>
            </a:extLst>
          </p:cNvPr>
          <p:cNvSpPr/>
          <p:nvPr/>
        </p:nvSpPr>
        <p:spPr>
          <a:xfrm>
            <a:off x="4864608" y="949569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17ED3792-256B-CB76-5E1E-D88EF006F8B6}"/>
              </a:ext>
            </a:extLst>
          </p:cNvPr>
          <p:cNvSpPr/>
          <p:nvPr/>
        </p:nvSpPr>
        <p:spPr>
          <a:xfrm>
            <a:off x="438912" y="4424289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데이터셋 구조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기본 CNN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</a:t>
            </a:r>
            <a:r>
              <a:rPr lang="en-US" altLang="ko-KR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</a:t>
            </a:r>
            <a:r>
              <a:rPr lang="en-US" altLang="ko-K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CNN </a:t>
            </a:r>
            <a:r>
              <a:rPr lang="ko-KR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및 그래프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성능 개선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그래프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전이학습 모델 구조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072" y="4424289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전이학습 모델 결과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972429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성능 비교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83480" y="1658229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ko-KR" alt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오분류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분석 결과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83480" y="2344029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어려웠던 점과 해결 방법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A391BA4-872B-FFE8-B923-69AF7E0B7BC5}"/>
              </a:ext>
            </a:extLst>
          </p:cNvPr>
          <p:cNvSpPr/>
          <p:nvPr/>
        </p:nvSpPr>
        <p:spPr>
          <a:xfrm>
            <a:off x="4828032" y="3006969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F1C04FC6-31B9-CEE3-A4EE-357614929D9C}"/>
              </a:ext>
            </a:extLst>
          </p:cNvPr>
          <p:cNvSpPr/>
          <p:nvPr/>
        </p:nvSpPr>
        <p:spPr>
          <a:xfrm>
            <a:off x="4965192" y="3006969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생성형 </a:t>
            </a:r>
            <a:r>
              <a:rPr lang="en-US" altLang="ko-KR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사용 방법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4112E413-7F2B-8E7A-9F96-714578EE99D3}"/>
              </a:ext>
            </a:extLst>
          </p:cNvPr>
          <p:cNvSpPr/>
          <p:nvPr/>
        </p:nvSpPr>
        <p:spPr>
          <a:xfrm>
            <a:off x="4828032" y="3703320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4">
            <a:extLst>
              <a:ext uri="{FF2B5EF4-FFF2-40B4-BE49-F238E27FC236}">
                <a16:creationId xmlns:a16="http://schemas.microsoft.com/office/drawing/2014/main" id="{0139D576-07C6-9B10-5C79-7C8A5630E33C}"/>
              </a:ext>
            </a:extLst>
          </p:cNvPr>
          <p:cNvSpPr/>
          <p:nvPr/>
        </p:nvSpPr>
        <p:spPr>
          <a:xfrm>
            <a:off x="4965192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팀원별</a:t>
            </a:r>
            <a:r>
              <a:rPr lang="ko-KR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역할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데이터셋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폴더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33731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synaps_team_project/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train/      (학습 이미지)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test/       (예측 대상 이미지)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train.csv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test.csv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sample_submission.csv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23273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데이터 현황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89033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306218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464521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47401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랜드마크 (0~9)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989033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60320" y="306218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3464521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647401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(8:2 분리)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86313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15946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4561801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데이터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44681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4086313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60320" y="415946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199개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60320" y="4561801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데이터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744681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대상</a:t>
            </a:r>
            <a:endParaRPr lang="en-US" sz="9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F8002D5-031A-5162-D751-C867B3CBB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902" y="948914"/>
            <a:ext cx="3580618" cy="204011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34179FD-263C-72E3-7A1A-47A06EED6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091" y="3290785"/>
            <a:ext cx="192024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</a:t>
            </a:r>
            <a:r>
              <a:rPr lang="en-US" sz="2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6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F022BF97-3CFF-4CEF-F81C-ED3C8A644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39" y="1413855"/>
            <a:ext cx="4489704" cy="294712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838D0EC-14A8-0320-77F9-D5C4084DE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990" y="1219262"/>
            <a:ext cx="3962400" cy="18796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54D76EE8-F722-7768-D618-FE1508B27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990" y="3540884"/>
            <a:ext cx="3975876" cy="1374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84B92-716E-394C-7B0A-0627CBE8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2">
            <a:extLst>
              <a:ext uri="{FF2B5EF4-FFF2-40B4-BE49-F238E27FC236}">
                <a16:creationId xmlns:a16="http://schemas.microsoft.com/office/drawing/2014/main" id="{60006268-391D-F720-C4B6-0D0E12A2B820}"/>
              </a:ext>
            </a:extLst>
          </p:cNvPr>
          <p:cNvSpPr/>
          <p:nvPr/>
        </p:nvSpPr>
        <p:spPr>
          <a:xfrm>
            <a:off x="457200" y="3605022"/>
            <a:ext cx="8412480" cy="131216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328A7DD-B0B7-5F0B-1DC1-A53E8D6FE1B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9903E8-17A0-1388-7E92-721FE5386B77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CNN 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</a:t>
            </a:r>
            <a:endParaRPr lang="en-US" sz="2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FB2E418-A020-A55F-54B3-ED92DB0255F7}"/>
              </a:ext>
            </a:extLst>
          </p:cNvPr>
          <p:cNvSpPr/>
          <p:nvPr/>
        </p:nvSpPr>
        <p:spPr>
          <a:xfrm>
            <a:off x="54864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 |  10 Epoch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ABA3F35-C820-3E49-03C4-0085F79C3E1C}"/>
              </a:ext>
            </a:extLst>
          </p:cNvPr>
          <p:cNvSpPr/>
          <p:nvPr/>
        </p:nvSpPr>
        <p:spPr>
          <a:xfrm>
            <a:off x="548640" y="40416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Acc:  0.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9310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(Epoch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621244C-DB49-847C-79F0-82B788BE0228}"/>
              </a:ext>
            </a:extLst>
          </p:cNvPr>
          <p:cNvSpPr/>
          <p:nvPr/>
        </p:nvSpPr>
        <p:spPr>
          <a:xfrm>
            <a:off x="548640" y="42611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|  LR: 0.001  |  Batch: 32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4CF31BB-4D22-BEF2-A8A9-5838BEAFAD79}"/>
              </a:ext>
            </a:extLst>
          </p:cNvPr>
          <p:cNvSpPr/>
          <p:nvPr/>
        </p:nvSpPr>
        <p:spPr>
          <a:xfrm>
            <a:off x="548640" y="4480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RandomHorizontalFlip + RandomRotation(10)</a:t>
            </a:r>
            <a:endParaRPr lang="en-US" sz="110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BF1AA91E-4707-A3F9-7F61-E8BEFED7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71" y="681227"/>
            <a:ext cx="3567257" cy="277632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504EAB87-7D3A-A757-4503-77911F729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871" y="615950"/>
            <a:ext cx="3427406" cy="284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0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33AB7-D87D-40F5-5AB8-9E7724D4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2">
            <a:extLst>
              <a:ext uri="{FF2B5EF4-FFF2-40B4-BE49-F238E27FC236}">
                <a16:creationId xmlns:a16="http://schemas.microsoft.com/office/drawing/2014/main" id="{9FFAF5CC-D1F9-B14F-7EE9-575C1A505625}"/>
              </a:ext>
            </a:extLst>
          </p:cNvPr>
          <p:cNvSpPr/>
          <p:nvPr/>
        </p:nvSpPr>
        <p:spPr>
          <a:xfrm>
            <a:off x="457200" y="3605022"/>
            <a:ext cx="8412480" cy="131216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8FCDE80-8E70-CEEC-A674-63F8F1DD7BC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790244-74EA-9667-FD7D-0960AC302D85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CNN 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그래프</a:t>
            </a:r>
            <a:endParaRPr lang="en-US" sz="2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19169AC-62B7-4C9F-0DD3-2B4F8F1B432A}"/>
              </a:ext>
            </a:extLst>
          </p:cNvPr>
          <p:cNvSpPr/>
          <p:nvPr/>
        </p:nvSpPr>
        <p:spPr>
          <a:xfrm>
            <a:off x="54864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 |  10 Epoch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D415641-B645-908D-A859-B7E91A9C206F}"/>
              </a:ext>
            </a:extLst>
          </p:cNvPr>
          <p:cNvSpPr/>
          <p:nvPr/>
        </p:nvSpPr>
        <p:spPr>
          <a:xfrm>
            <a:off x="548640" y="40416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Acc: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0.9310  (Epoch 5)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72A1D9E-C83A-D589-B537-EB20C2BE4383}"/>
              </a:ext>
            </a:extLst>
          </p:cNvPr>
          <p:cNvSpPr/>
          <p:nvPr/>
        </p:nvSpPr>
        <p:spPr>
          <a:xfrm>
            <a:off x="548640" y="42611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|  LR: 0.001  |  Batch: 32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2F16678-58FA-05D9-7071-C51C4206125E}"/>
              </a:ext>
            </a:extLst>
          </p:cNvPr>
          <p:cNvSpPr/>
          <p:nvPr/>
        </p:nvSpPr>
        <p:spPr>
          <a:xfrm>
            <a:off x="548640" y="4480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RandomHorizontalFlip + RandomRotation(10)</a:t>
            </a:r>
            <a:endParaRPr lang="en-US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10CE2D-EB1C-DA4B-0B18-2BC228146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24" y="786233"/>
            <a:ext cx="8188876" cy="26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4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성능 개선 실험 과정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4985" y="1911927"/>
            <a:ext cx="39319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94985" y="1957647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4985" y="2231967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증강 비교</a:t>
            </a:r>
            <a:endParaRPr lang="en-US" sz="1100" dirty="0"/>
          </a:p>
          <a:p>
            <a:pPr algn="ctr"/>
            <a:r>
              <a:rPr lang="ko-KR" altLang="ko-KR" sz="1100" dirty="0" err="1">
                <a:solidFill>
                  <a:schemeClr val="bg1"/>
                </a:solidFill>
              </a:rPr>
              <a:t>RandomHorizontalFlip</a:t>
            </a:r>
            <a:r>
              <a:rPr lang="ko-KR" altLang="ko-KR" sz="1100" dirty="0">
                <a:solidFill>
                  <a:schemeClr val="bg1"/>
                </a:solidFill>
              </a:rPr>
              <a:t> + </a:t>
            </a:r>
            <a:r>
              <a:rPr lang="ko-KR" altLang="ko-KR" sz="1100" dirty="0" err="1">
                <a:solidFill>
                  <a:schemeClr val="bg1"/>
                </a:solidFill>
              </a:rPr>
              <a:t>RandomRotation</a:t>
            </a:r>
            <a:r>
              <a:rPr lang="ko-KR" altLang="ko-KR" sz="1100" dirty="0">
                <a:solidFill>
                  <a:schemeClr val="bg1"/>
                </a:solidFill>
              </a:rPr>
              <a:t>(10)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884105" y="1911927"/>
            <a:ext cx="39319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84105" y="1957647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84105" y="2231967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튜닝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</a:t>
            </a:r>
            <a:r>
              <a:rPr lang="ko-KR" alt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r>
              <a:rPr lang="ko-KR" alt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r>
              <a:rPr lang="ko-KR" alt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B828372-8B72-E941-6374-BFB93D86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57" y="3089216"/>
            <a:ext cx="4224528" cy="63344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A13D445-BE31-081B-F949-23983D36E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880" y="2935837"/>
            <a:ext cx="2183423" cy="786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983CC-ACA3-3CC1-000D-4B811213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76999-A59F-57BE-B801-2FA39A89BD7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0086FC-80AB-DD7C-986C-C9EFAF209418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성능 개선 </a:t>
            </a:r>
            <a:r>
              <a:rPr lang="en-US" sz="2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80FAF8-9580-1EDC-41B1-628002F95812}"/>
              </a:ext>
            </a:extLst>
          </p:cNvPr>
          <p:cNvSpPr/>
          <p:nvPr/>
        </p:nvSpPr>
        <p:spPr>
          <a:xfrm>
            <a:off x="652237" y="1408003"/>
            <a:ext cx="1610854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CA7029-EA7B-1644-EEB0-A9B5B0A8B468}"/>
              </a:ext>
            </a:extLst>
          </p:cNvPr>
          <p:cNvSpPr/>
          <p:nvPr/>
        </p:nvSpPr>
        <p:spPr>
          <a:xfrm>
            <a:off x="-279485" y="1453723"/>
            <a:ext cx="35174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AF9350-DBC4-7CCE-067F-1597CA9F35E8}"/>
              </a:ext>
            </a:extLst>
          </p:cNvPr>
          <p:cNvSpPr/>
          <p:nvPr/>
        </p:nvSpPr>
        <p:spPr>
          <a:xfrm>
            <a:off x="651309" y="1728043"/>
            <a:ext cx="161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증강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0DBBB4-C8EE-82C3-0D89-19E44696C2D1}"/>
              </a:ext>
            </a:extLst>
          </p:cNvPr>
          <p:cNvSpPr/>
          <p:nvPr/>
        </p:nvSpPr>
        <p:spPr>
          <a:xfrm>
            <a:off x="652237" y="3451860"/>
            <a:ext cx="165998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1C843CC-4AF3-E2AB-74AF-6C64286773A4}"/>
              </a:ext>
            </a:extLst>
          </p:cNvPr>
          <p:cNvSpPr/>
          <p:nvPr/>
        </p:nvSpPr>
        <p:spPr>
          <a:xfrm>
            <a:off x="-486718" y="34975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89D7A0-4A7A-E104-EEDB-4425B7AAFE89}"/>
              </a:ext>
            </a:extLst>
          </p:cNvPr>
          <p:cNvSpPr/>
          <p:nvPr/>
        </p:nvSpPr>
        <p:spPr>
          <a:xfrm>
            <a:off x="-486718" y="37719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튜닝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</a:t>
            </a:r>
            <a:r>
              <a:rPr lang="ko-KR" alt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r>
              <a:rPr lang="ko-KR" alt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r>
              <a:rPr lang="ko-KR" alt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F38A9F-38E4-A80A-0A44-A522D60B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891" y="839968"/>
            <a:ext cx="6154919" cy="19319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93B12B6-6FD3-F114-96E2-BCE6B8109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891" y="2953167"/>
            <a:ext cx="6154919" cy="194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3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136A4-AA56-105C-9D13-34E20174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DCB487-19F1-0C73-4178-95BD10E8D3C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50E6E8-5F75-5C80-5BBC-25DC18E963AA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전이학습 </a:t>
            </a:r>
            <a:r>
              <a:rPr lang="en-US" sz="2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2EA984F-1786-A313-C922-C9EFEF015295}"/>
              </a:ext>
            </a:extLst>
          </p:cNvPr>
          <p:cNvSpPr/>
          <p:nvPr/>
        </p:nvSpPr>
        <p:spPr>
          <a:xfrm>
            <a:off x="4663440" y="26060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4BA63B5-6E68-F884-8E98-188A0C05759E}"/>
              </a:ext>
            </a:extLst>
          </p:cNvPr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단점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A2DF448-6A21-BBA4-61B5-96F562B9F27F}"/>
              </a:ext>
            </a:extLst>
          </p:cNvPr>
          <p:cNvSpPr/>
          <p:nvPr/>
        </p:nvSpPr>
        <p:spPr>
          <a:xfrm>
            <a:off x="4800600" y="2971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도메인과 차이가 클 경우 효과 감소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크기가 크고 메모리 사용 많음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구조 이해 필요</a:t>
            </a:r>
            <a:endParaRPr lang="en-US" sz="14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14951BB-274E-3784-F00C-2E3C136D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88" y="0"/>
            <a:ext cx="4663020" cy="5143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2F54A1-0051-BB40-52A5-A01C98934BC8}"/>
              </a:ext>
            </a:extLst>
          </p:cNvPr>
          <p:cNvSpPr txBox="1"/>
          <p:nvPr/>
        </p:nvSpPr>
        <p:spPr>
          <a:xfrm>
            <a:off x="323977" y="2017752"/>
            <a:ext cx="36998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600" dirty="0" err="1"/>
              <a:t>ResNet</a:t>
            </a:r>
            <a:r>
              <a:rPr kumimoji="1" lang="en-US" altLang="ko-KR" sz="6600" dirty="0"/>
              <a:t> 18</a:t>
            </a:r>
            <a:endParaRPr kumimoji="1"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24484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2ECCD-1ECA-191B-E11A-A72DF13E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C1FB0C-7810-884E-07EB-42915D2072F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6F7E08-89E5-39BA-CFA9-DAC8328E5123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전이학습 </a:t>
            </a:r>
            <a:r>
              <a:rPr lang="en-US" sz="2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B962ABF-E5B0-6EEE-3BE8-40F248083143}"/>
              </a:ext>
            </a:extLst>
          </p:cNvPr>
          <p:cNvSpPr/>
          <p:nvPr/>
        </p:nvSpPr>
        <p:spPr>
          <a:xfrm>
            <a:off x="4663440" y="26060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3AF48C4-5E07-1BCA-5773-39FB51AB3F4F}"/>
              </a:ext>
            </a:extLst>
          </p:cNvPr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단점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453CD5C-3D7A-C743-B067-FFB6B3F48388}"/>
              </a:ext>
            </a:extLst>
          </p:cNvPr>
          <p:cNvSpPr/>
          <p:nvPr/>
        </p:nvSpPr>
        <p:spPr>
          <a:xfrm>
            <a:off x="4800600" y="2971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도메인과 차이가 클 경우 효과 감소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크기가 크고 메모리 사용 많음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구조 이해 필요</a:t>
            </a:r>
            <a:endParaRPr 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FB1258-3A5B-A29B-CA6F-D8DABF846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1" y="0"/>
            <a:ext cx="4498847" cy="5143500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F185C1F3-34A9-7024-24EC-707775B0D037}"/>
              </a:ext>
            </a:extLst>
          </p:cNvPr>
          <p:cNvSpPr/>
          <p:nvPr/>
        </p:nvSpPr>
        <p:spPr>
          <a:xfrm>
            <a:off x="457200" y="3605022"/>
            <a:ext cx="4005072" cy="131216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5">
            <a:extLst>
              <a:ext uri="{FF2B5EF4-FFF2-40B4-BE49-F238E27FC236}">
                <a16:creationId xmlns:a16="http://schemas.microsoft.com/office/drawing/2014/main" id="{F1E265FA-CB04-DF18-EF24-1544EAF66D36}"/>
              </a:ext>
            </a:extLst>
          </p:cNvPr>
          <p:cNvSpPr/>
          <p:nvPr/>
        </p:nvSpPr>
        <p:spPr>
          <a:xfrm>
            <a:off x="54864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 |  10 Epoch</a:t>
            </a:r>
            <a:endParaRPr lang="en-US" sz="1100" dirty="0"/>
          </a:p>
        </p:txBody>
      </p:sp>
      <p:sp>
        <p:nvSpPr>
          <p:cNvPr id="7" name="Text 36">
            <a:extLst>
              <a:ext uri="{FF2B5EF4-FFF2-40B4-BE49-F238E27FC236}">
                <a16:creationId xmlns:a16="http://schemas.microsoft.com/office/drawing/2014/main" id="{D8DDD138-C4CA-0734-A5C1-6500B5446D8E}"/>
              </a:ext>
            </a:extLst>
          </p:cNvPr>
          <p:cNvSpPr/>
          <p:nvPr/>
        </p:nvSpPr>
        <p:spPr>
          <a:xfrm>
            <a:off x="548640" y="40416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Acc:  0.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9724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(Epoch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37">
            <a:extLst>
              <a:ext uri="{FF2B5EF4-FFF2-40B4-BE49-F238E27FC236}">
                <a16:creationId xmlns:a16="http://schemas.microsoft.com/office/drawing/2014/main" id="{F935FB36-3C79-4FE2-DD92-B1076A7000FC}"/>
              </a:ext>
            </a:extLst>
          </p:cNvPr>
          <p:cNvSpPr/>
          <p:nvPr/>
        </p:nvSpPr>
        <p:spPr>
          <a:xfrm>
            <a:off x="548640" y="42611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|  LR: 0.001  |  Batch: </a:t>
            </a:r>
            <a:r>
              <a:rPr lang="en-US" altLang="ko-K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9" name="Text 38">
            <a:extLst>
              <a:ext uri="{FF2B5EF4-FFF2-40B4-BE49-F238E27FC236}">
                <a16:creationId xmlns:a16="http://schemas.microsoft.com/office/drawing/2014/main" id="{3CAA56F5-6CEE-FA66-4D43-969D0559FA5A}"/>
              </a:ext>
            </a:extLst>
          </p:cNvPr>
          <p:cNvSpPr/>
          <p:nvPr/>
        </p:nvSpPr>
        <p:spPr>
          <a:xfrm>
            <a:off x="548640" y="4480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RandomHorizontalFlip + RandomRotation(10)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8071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모델 성능 비교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3660090"/>
            <a:ext cx="8595360" cy="139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3705787"/>
            <a:ext cx="8229600" cy="1301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</a:t>
            </a: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</a:t>
            </a:r>
            <a:endParaRPr lang="en-US" sz="12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o-KR" altLang="en-US" sz="1200" dirty="0"/>
              <a:t>* </a:t>
            </a:r>
            <a:r>
              <a:rPr lang="ko-KR" altLang="ko-KR" sz="1200" dirty="0"/>
              <a:t>전이학습(ResNet18)이 </a:t>
            </a:r>
            <a:r>
              <a:rPr lang="ko-KR" altLang="ko-KR" sz="1200" b="1" dirty="0"/>
              <a:t>97.24%</a:t>
            </a:r>
            <a:r>
              <a:rPr lang="ko-KR" altLang="ko-KR" sz="1200" dirty="0"/>
              <a:t> 로 가장 높은 성능 — 기본 CNN(93.10%) 대비 </a:t>
            </a:r>
            <a:r>
              <a:rPr lang="ko-KR" altLang="ko-KR" sz="1200" b="1" dirty="0"/>
              <a:t>약 4% 향상</a:t>
            </a:r>
            <a:endParaRPr lang="ko-KR" altLang="ko-KR" sz="1200" dirty="0"/>
          </a:p>
          <a:p>
            <a:r>
              <a:rPr lang="ko-KR" altLang="en-US" sz="1200" dirty="0"/>
              <a:t>* </a:t>
            </a:r>
            <a:r>
              <a:rPr lang="ko-KR" altLang="ko-KR" sz="1200" dirty="0"/>
              <a:t>데이터 증강 적용 시 오히려 성능 하락(93.10% → 91.03%) — 랜드마크 이미지 특성상 증강이 노이즈로 작용</a:t>
            </a:r>
          </a:p>
          <a:p>
            <a:r>
              <a:rPr lang="ko-KR" altLang="en-US" sz="1200" dirty="0"/>
              <a:t>* </a:t>
            </a:r>
            <a:r>
              <a:rPr lang="ko-KR" altLang="ko-KR" sz="1200" dirty="0" err="1"/>
              <a:t>LR을</a:t>
            </a:r>
            <a:r>
              <a:rPr lang="ko-KR" altLang="ko-KR" sz="1200" dirty="0"/>
              <a:t> 낮추니(0.001 → 0.0001) 성능은 동일하지만 </a:t>
            </a:r>
            <a:r>
              <a:rPr lang="ko-KR" altLang="ko-KR" sz="1200" b="1" dirty="0"/>
              <a:t>학습이 더 안정적</a:t>
            </a:r>
            <a:r>
              <a:rPr lang="ko-KR" altLang="ko-KR" sz="1200" dirty="0"/>
              <a:t> — </a:t>
            </a:r>
            <a:r>
              <a:rPr lang="ko-KR" altLang="ko-KR" sz="1200" dirty="0" err="1"/>
              <a:t>과적합</a:t>
            </a:r>
            <a:r>
              <a:rPr lang="ko-KR" altLang="ko-KR" sz="1200" dirty="0"/>
              <a:t> 감소</a:t>
            </a:r>
          </a:p>
          <a:p>
            <a:r>
              <a:rPr lang="ko-KR" altLang="en-US" sz="1200" dirty="0"/>
              <a:t>* </a:t>
            </a:r>
            <a:r>
              <a:rPr lang="ko-KR" altLang="ko-KR" sz="1200" dirty="0"/>
              <a:t>전이학습은 </a:t>
            </a:r>
            <a:r>
              <a:rPr lang="ko-KR" altLang="ko-KR" sz="1200" dirty="0" err="1"/>
              <a:t>Epoch</a:t>
            </a:r>
            <a:r>
              <a:rPr lang="ko-KR" altLang="ko-KR" sz="1200" dirty="0"/>
              <a:t> 2부터 이미 </a:t>
            </a:r>
            <a:r>
              <a:rPr lang="ko-KR" altLang="ko-KR" sz="1200" b="1" dirty="0"/>
              <a:t>81.38%</a:t>
            </a:r>
            <a:r>
              <a:rPr lang="ko-KR" altLang="ko-KR" sz="1200" dirty="0"/>
              <a:t> 도달 — </a:t>
            </a:r>
            <a:r>
              <a:rPr lang="ko-KR" altLang="ko-KR" sz="1200" dirty="0" err="1"/>
              <a:t>CNN보다</a:t>
            </a:r>
            <a:r>
              <a:rPr lang="ko-KR" altLang="ko-KR" sz="1200" dirty="0"/>
              <a:t> 훨씬 빠르게 수렴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7CFCE9-77FC-62F7-CAC6-DF0B32E42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47" y="777241"/>
            <a:ext cx="5502730" cy="28650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오분류 분석 결과</a:t>
            </a:r>
            <a:endParaRPr lang="en-US" sz="2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40207B4-D353-034A-A84E-706AC9D1A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138" y="329562"/>
            <a:ext cx="2607270" cy="224218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163F93C-E3D3-5808-508F-B22A3A137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397" y="329562"/>
            <a:ext cx="2607270" cy="222199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0808135-8F73-F829-EBE3-D8CA73629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581" y="2795250"/>
            <a:ext cx="2585086" cy="2235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E91CD36-BFBC-64D7-2D55-72AFCF97B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235" y="2795250"/>
            <a:ext cx="2617173" cy="22355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어려웠던 점과 해결 방법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B0BEC5">
              <a:alpha val="70000"/>
            </a:srgbClr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추가 예정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팀원별 경험을 추후 작성 예정입니다.</a:t>
            </a:r>
            <a:endParaRPr 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83C976-E1AF-7442-BCFF-08812D9B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1539557"/>
            <a:ext cx="7772400" cy="17522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생성형 AI 사용 방법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어떤 질문을 했는가?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6E6F058-9DF5-40DC-A848-8D97B2B44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819438"/>
            <a:ext cx="4508500" cy="159979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514AB9-371E-295F-3283-85E332831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194560"/>
            <a:ext cx="4267200" cy="177244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E1399A7-A375-41B3-94EB-EFC16BF9F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46" y="2891759"/>
            <a:ext cx="4508500" cy="20231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팀원별 역할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신연주 (팀장 / 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1 — 데이터 로드, Dataset/DataLoader, 전처리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3 — 데이터 증강 방식 비교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1. 데이터 이해  /  2. 전체 실행 흐름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37560" y="822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김민진 (B)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481328"/>
            <a:ext cx="118872" cy="1188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1 — CNN 모델 정의, 학습/검증 루프, 예측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304288"/>
            <a:ext cx="118872" cy="1188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566160" y="2240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3 — 하이퍼파라미터 튜닝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27248"/>
            <a:ext cx="118872" cy="1188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56616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3. 기본 CNN 설명  /  5. 실험 결과 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172200" y="822960"/>
            <a:ext cx="274320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822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김유진 (C)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1481328"/>
            <a:ext cx="118872" cy="1188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92240" y="1417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2 — 전이학습 모델 구현 전체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304288"/>
            <a:ext cx="118872" cy="1188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2240" y="2240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4. 전이학습 모델 설명  /  6. 결과 해석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D팀  |  신연주 · 김민진 · 김유진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시냅스 2기  서울 랜드마크 이미지 분류 프로젝트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604</Words>
  <Application>Microsoft Macintosh PowerPoint</Application>
  <PresentationFormat>화면 슬라이드 쇼(16:9)</PresentationFormat>
  <Paragraphs>120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랜드마크 이미지 분류 - D팀</dc:title>
  <dc:subject>PptxGenJS Presentation</dc:subject>
  <dc:creator>PptxGenJS</dc:creator>
  <cp:lastModifiedBy>연주 신</cp:lastModifiedBy>
  <cp:revision>5</cp:revision>
  <dcterms:created xsi:type="dcterms:W3CDTF">2026-05-16T15:15:55Z</dcterms:created>
  <dcterms:modified xsi:type="dcterms:W3CDTF">2026-05-26T06:50:38Z</dcterms:modified>
</cp:coreProperties>
</file>