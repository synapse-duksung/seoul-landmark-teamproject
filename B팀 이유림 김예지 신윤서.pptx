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Noto Sans Kr Ultra-Bold" charset="1" panose="020B0200000000000000"/>
      <p:regular r:id="rId17"/>
    </p:embeddedFont>
    <p:embeddedFont>
      <p:font typeface="Noto Sans Kr" charset="1" panose="020B0200000000000000"/>
      <p:regular r:id="rId18"/>
    </p:embeddedFont>
    <p:embeddedFont>
      <p:font typeface="Noto Sans Kr Medium" charset="1" panose="020B0200000000000000"/>
      <p:regular r:id="rId19"/>
    </p:embeddedFont>
    <p:embeddedFont>
      <p:font typeface="Noto Sans Kr Bold" charset="1" panose="020B0200000000000000"/>
      <p:regular r:id="rId20"/>
    </p:embeddedFont>
    <p:embeddedFont>
      <p:font typeface="Noto Sans Kr Semi-Bold" charset="1" panose="020B0200000000000000"/>
      <p:regular r:id="rId21"/>
    </p:embeddedFont>
    <p:embeddedFont>
      <p:font typeface="Arimo" charset="1" panose="020B06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1.bin" Type="http://schemas.openxmlformats.org/officeDocument/2006/relationships/oleObjec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4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5452" y="-514350"/>
            <a:ext cx="19038903" cy="2085381"/>
            <a:chOff x="0" y="0"/>
            <a:chExt cx="25385204" cy="278050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385204" cy="2101050"/>
              <a:chOff x="0" y="0"/>
              <a:chExt cx="5014361" cy="41502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014361" cy="415022"/>
              </a:xfrm>
              <a:custGeom>
                <a:avLst/>
                <a:gdLst/>
                <a:ahLst/>
                <a:cxnLst/>
                <a:rect r="r" b="b" t="t" l="l"/>
                <a:pathLst>
                  <a:path h="415022" w="5014361">
                    <a:moveTo>
                      <a:pt x="0" y="0"/>
                    </a:moveTo>
                    <a:lnTo>
                      <a:pt x="5014361" y="0"/>
                    </a:lnTo>
                    <a:lnTo>
                      <a:pt x="5014361" y="415022"/>
                    </a:lnTo>
                    <a:lnTo>
                      <a:pt x="0" y="415022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014361" cy="4626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8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5400000">
              <a:off x="12316082" y="-10968072"/>
              <a:ext cx="753040" cy="25385204"/>
            </a:xfrm>
            <a:custGeom>
              <a:avLst/>
              <a:gdLst/>
              <a:ahLst/>
              <a:cxnLst/>
              <a:rect r="r" b="b" t="t" l="l"/>
              <a:pathLst>
                <a:path h="25385204" w="753040">
                  <a:moveTo>
                    <a:pt x="0" y="0"/>
                  </a:moveTo>
                  <a:lnTo>
                    <a:pt x="753040" y="0"/>
                  </a:lnTo>
                  <a:lnTo>
                    <a:pt x="753040" y="25385204"/>
                  </a:lnTo>
                  <a:lnTo>
                    <a:pt x="0" y="25385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1000"/>
              </a:blip>
              <a:stretch>
                <a:fillRect l="0" t="-3557" r="-2022189" b="-2864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35625" y="1120205"/>
              <a:ext cx="1766279" cy="1660302"/>
            </a:xfrm>
            <a:custGeom>
              <a:avLst/>
              <a:gdLst/>
              <a:ahLst/>
              <a:cxnLst/>
              <a:rect r="r" b="b" t="t" l="l"/>
              <a:pathLst>
                <a:path h="1660302" w="1766279">
                  <a:moveTo>
                    <a:pt x="0" y="0"/>
                  </a:moveTo>
                  <a:lnTo>
                    <a:pt x="1766279" y="0"/>
                  </a:lnTo>
                  <a:lnTo>
                    <a:pt x="1766279" y="1660302"/>
                  </a:lnTo>
                  <a:lnTo>
                    <a:pt x="0" y="166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2650391"/>
            <a:ext cx="11280941" cy="3391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22"/>
              </a:lnSpc>
            </a:pPr>
            <a:r>
              <a:rPr lang="en-US" sz="9730" spc="-97" b="true">
                <a:solidFill>
                  <a:srgbClr val="231F20"/>
                </a:solidFill>
                <a:latin typeface="Noto Sans Kr Ultra-Bold"/>
                <a:ea typeface="Noto Sans Kr Ultra-Bold"/>
                <a:cs typeface="Noto Sans Kr Ultra-Bold"/>
                <a:sym typeface="Noto Sans Kr Ultra-Bold"/>
              </a:rPr>
              <a:t>서울 랜드마크</a:t>
            </a:r>
          </a:p>
          <a:p>
            <a:pPr algn="l">
              <a:lnSpc>
                <a:spcPts val="13622"/>
              </a:lnSpc>
              <a:spcBef>
                <a:spcPct val="0"/>
              </a:spcBef>
            </a:pPr>
            <a:r>
              <a:rPr lang="en-US" b="true" sz="9730" spc="-97">
                <a:solidFill>
                  <a:srgbClr val="231F20"/>
                </a:solidFill>
                <a:latin typeface="Noto Sans Kr Ultra-Bold"/>
                <a:ea typeface="Noto Sans Kr Ultra-Bold"/>
                <a:cs typeface="Noto Sans Kr Ultra-Bold"/>
                <a:sym typeface="Noto Sans Kr Ultra-Bold"/>
              </a:rPr>
              <a:t>이미지 분류 프로젝트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1268" y="8852535"/>
            <a:ext cx="684548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24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B팀 이유림 김예지 신윤서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5452" y="-514350"/>
            <a:ext cx="19038903" cy="2085381"/>
            <a:chOff x="0" y="0"/>
            <a:chExt cx="25385204" cy="278050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385204" cy="2101050"/>
              <a:chOff x="0" y="0"/>
              <a:chExt cx="5014361" cy="41502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014361" cy="415022"/>
              </a:xfrm>
              <a:custGeom>
                <a:avLst/>
                <a:gdLst/>
                <a:ahLst/>
                <a:cxnLst/>
                <a:rect r="r" b="b" t="t" l="l"/>
                <a:pathLst>
                  <a:path h="415022" w="5014361">
                    <a:moveTo>
                      <a:pt x="0" y="0"/>
                    </a:moveTo>
                    <a:lnTo>
                      <a:pt x="5014361" y="0"/>
                    </a:lnTo>
                    <a:lnTo>
                      <a:pt x="5014361" y="415022"/>
                    </a:lnTo>
                    <a:lnTo>
                      <a:pt x="0" y="415022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014361" cy="4626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8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5400000">
              <a:off x="12316082" y="-10968072"/>
              <a:ext cx="753040" cy="25385204"/>
            </a:xfrm>
            <a:custGeom>
              <a:avLst/>
              <a:gdLst/>
              <a:ahLst/>
              <a:cxnLst/>
              <a:rect r="r" b="b" t="t" l="l"/>
              <a:pathLst>
                <a:path h="25385204" w="753040">
                  <a:moveTo>
                    <a:pt x="0" y="0"/>
                  </a:moveTo>
                  <a:lnTo>
                    <a:pt x="753040" y="0"/>
                  </a:lnTo>
                  <a:lnTo>
                    <a:pt x="753040" y="25385204"/>
                  </a:lnTo>
                  <a:lnTo>
                    <a:pt x="0" y="25385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1000"/>
              </a:blip>
              <a:stretch>
                <a:fillRect l="0" t="-3557" r="-2022189" b="-2864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35625" y="1120205"/>
              <a:ext cx="1766279" cy="1660302"/>
            </a:xfrm>
            <a:custGeom>
              <a:avLst/>
              <a:gdLst/>
              <a:ahLst/>
              <a:cxnLst/>
              <a:rect r="r" b="b" t="t" l="l"/>
              <a:pathLst>
                <a:path h="1660302" w="1766279">
                  <a:moveTo>
                    <a:pt x="0" y="0"/>
                  </a:moveTo>
                  <a:lnTo>
                    <a:pt x="1766279" y="0"/>
                  </a:lnTo>
                  <a:lnTo>
                    <a:pt x="1766279" y="1660302"/>
                  </a:lnTo>
                  <a:lnTo>
                    <a:pt x="0" y="166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513779" y="3882657"/>
            <a:ext cx="3189322" cy="53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4"/>
              </a:lnSpc>
              <a:spcBef>
                <a:spcPct val="0"/>
              </a:spcBef>
            </a:pPr>
            <a:r>
              <a:rPr lang="en-US" b="true" sz="3074" spc="-30">
                <a:solidFill>
                  <a:srgbClr val="231F20"/>
                </a:solidFill>
                <a:latin typeface="Noto Sans Kr Medium"/>
                <a:ea typeface="Noto Sans Kr Medium"/>
                <a:cs typeface="Noto Sans Kr Medium"/>
                <a:sym typeface="Noto Sans Kr Medium"/>
              </a:rPr>
              <a:t>데이터셋 구조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13779" y="5089210"/>
            <a:ext cx="3523180" cy="53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4"/>
              </a:lnSpc>
              <a:spcBef>
                <a:spcPct val="0"/>
              </a:spcBef>
            </a:pPr>
            <a:r>
              <a:rPr lang="en-US" b="true" sz="3074" spc="-30">
                <a:solidFill>
                  <a:srgbClr val="231F20"/>
                </a:solidFill>
                <a:latin typeface="Noto Sans Kr Medium"/>
                <a:ea typeface="Noto Sans Kr Medium"/>
                <a:cs typeface="Noto Sans Kr Medium"/>
                <a:sym typeface="Noto Sans Kr Medium"/>
              </a:rPr>
              <a:t>기본 CNN 모델 흐름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13779" y="7497257"/>
            <a:ext cx="3189322" cy="53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4"/>
              </a:lnSpc>
              <a:spcBef>
                <a:spcPct val="0"/>
              </a:spcBef>
            </a:pPr>
            <a:r>
              <a:rPr lang="en-US" b="true" sz="3074" spc="-30">
                <a:solidFill>
                  <a:srgbClr val="231F20"/>
                </a:solidFill>
                <a:latin typeface="Noto Sans Kr Medium"/>
                <a:ea typeface="Noto Sans Kr Medium"/>
                <a:cs typeface="Noto Sans Kr Medium"/>
                <a:sym typeface="Noto Sans Kr Medium"/>
              </a:rPr>
              <a:t>성능 개선 실험 과정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3732" y="3881542"/>
            <a:ext cx="3189322" cy="53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4"/>
              </a:lnSpc>
              <a:spcBef>
                <a:spcPct val="0"/>
              </a:spcBef>
            </a:pPr>
            <a:r>
              <a:rPr lang="en-US" b="true" sz="3074" spc="-30">
                <a:solidFill>
                  <a:srgbClr val="231F20"/>
                </a:solidFill>
                <a:latin typeface="Noto Sans Kr Medium"/>
                <a:ea typeface="Noto Sans Kr Medium"/>
                <a:cs typeface="Noto Sans Kr Medium"/>
                <a:sym typeface="Noto Sans Kr Medium"/>
              </a:rPr>
              <a:t>모델 성능 비교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53732" y="7497257"/>
            <a:ext cx="3189322" cy="53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4"/>
              </a:lnSpc>
              <a:spcBef>
                <a:spcPct val="0"/>
              </a:spcBef>
            </a:pPr>
            <a:r>
              <a:rPr lang="en-US" b="true" sz="3074" spc="-30">
                <a:solidFill>
                  <a:srgbClr val="231F20"/>
                </a:solidFill>
                <a:latin typeface="Noto Sans Kr Medium"/>
                <a:ea typeface="Noto Sans Kr Medium"/>
                <a:cs typeface="Noto Sans Kr Medium"/>
                <a:sym typeface="Noto Sans Kr Medium"/>
              </a:rPr>
              <a:t>팀원별 역할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414864" y="3788875"/>
            <a:ext cx="783509" cy="783509"/>
            <a:chOff x="0" y="0"/>
            <a:chExt cx="1044678" cy="104467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44678" cy="1044678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8595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62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2512" y="147267"/>
              <a:ext cx="1017147" cy="6834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04"/>
                </a:lnSpc>
                <a:spcBef>
                  <a:spcPct val="0"/>
                </a:spcBef>
              </a:pPr>
              <a:r>
                <a:rPr lang="en-US" b="true" sz="3074">
                  <a:solidFill>
                    <a:srgbClr val="FFFFFF"/>
                  </a:solidFill>
                  <a:latin typeface="Noto Sans Kr Medium"/>
                  <a:ea typeface="Noto Sans Kr Medium"/>
                  <a:cs typeface="Noto Sans Kr Medium"/>
                  <a:sym typeface="Noto Sans Kr Medium"/>
                </a:rPr>
                <a:t>01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14864" y="4995428"/>
            <a:ext cx="783509" cy="783509"/>
            <a:chOff x="0" y="0"/>
            <a:chExt cx="1044678" cy="104467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44678" cy="1044678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8595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62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6256" y="147267"/>
              <a:ext cx="1017147" cy="6834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04"/>
                </a:lnSpc>
                <a:spcBef>
                  <a:spcPct val="0"/>
                </a:spcBef>
              </a:pPr>
              <a:r>
                <a:rPr lang="en-US" b="true" sz="3074">
                  <a:solidFill>
                    <a:srgbClr val="FFFFFF"/>
                  </a:solidFill>
                  <a:latin typeface="Noto Sans Kr Medium"/>
                  <a:ea typeface="Noto Sans Kr Medium"/>
                  <a:cs typeface="Noto Sans Kr Medium"/>
                  <a:sym typeface="Noto Sans Kr Medium"/>
                </a:rPr>
                <a:t>02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14864" y="6201982"/>
            <a:ext cx="783509" cy="783509"/>
            <a:chOff x="0" y="0"/>
            <a:chExt cx="1044678" cy="1044678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44678" cy="1044678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8595B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62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147267"/>
              <a:ext cx="1017147" cy="6834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04"/>
                </a:lnSpc>
                <a:spcBef>
                  <a:spcPct val="0"/>
                </a:spcBef>
              </a:pPr>
              <a:r>
                <a:rPr lang="en-US" b="true" sz="3074">
                  <a:solidFill>
                    <a:srgbClr val="FFFFFF"/>
                  </a:solidFill>
                  <a:latin typeface="Noto Sans Kr Medium"/>
                  <a:ea typeface="Noto Sans Kr Medium"/>
                  <a:cs typeface="Noto Sans Kr Medium"/>
                  <a:sym typeface="Noto Sans Kr Medium"/>
                </a:rPr>
                <a:t>03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414864" y="7404590"/>
            <a:ext cx="783509" cy="783509"/>
            <a:chOff x="0" y="0"/>
            <a:chExt cx="1044678" cy="1044678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044678" cy="104467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8595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62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2695" y="147267"/>
              <a:ext cx="1031983" cy="6834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04"/>
                </a:lnSpc>
                <a:spcBef>
                  <a:spcPct val="0"/>
                </a:spcBef>
              </a:pPr>
              <a:r>
                <a:rPr lang="en-US" b="true" sz="3074">
                  <a:solidFill>
                    <a:srgbClr val="FFFFFF"/>
                  </a:solidFill>
                  <a:latin typeface="Noto Sans Kr Medium"/>
                  <a:ea typeface="Noto Sans Kr Medium"/>
                  <a:cs typeface="Noto Sans Kr Medium"/>
                  <a:sym typeface="Noto Sans Kr Medium"/>
                </a:rPr>
                <a:t>04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755898" y="6198037"/>
            <a:ext cx="783509" cy="783509"/>
            <a:chOff x="0" y="0"/>
            <a:chExt cx="1044678" cy="1044678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044678" cy="1044678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8595B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62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6347" y="147267"/>
              <a:ext cx="1031983" cy="6834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04"/>
                </a:lnSpc>
                <a:spcBef>
                  <a:spcPct val="0"/>
                </a:spcBef>
              </a:pPr>
              <a:r>
                <a:rPr lang="en-US" b="true" sz="3074">
                  <a:solidFill>
                    <a:srgbClr val="FFFFFF"/>
                  </a:solidFill>
                  <a:latin typeface="Noto Sans Kr Medium"/>
                  <a:ea typeface="Noto Sans Kr Medium"/>
                  <a:cs typeface="Noto Sans Kr Medium"/>
                  <a:sym typeface="Noto Sans Kr Medium"/>
                </a:rPr>
                <a:t>07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755898" y="7404590"/>
            <a:ext cx="783509" cy="783509"/>
            <a:chOff x="0" y="0"/>
            <a:chExt cx="1044678" cy="1044678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044678" cy="104467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8595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62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0" y="147267"/>
              <a:ext cx="1031983" cy="6834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04"/>
                </a:lnSpc>
                <a:spcBef>
                  <a:spcPct val="0"/>
                </a:spcBef>
              </a:pPr>
              <a:r>
                <a:rPr lang="en-US" b="true" sz="3074">
                  <a:solidFill>
                    <a:srgbClr val="FFFFFF"/>
                  </a:solidFill>
                  <a:latin typeface="Noto Sans Kr Medium"/>
                  <a:ea typeface="Noto Sans Kr Medium"/>
                  <a:cs typeface="Noto Sans Kr Medium"/>
                  <a:sym typeface="Noto Sans Kr Medium"/>
                </a:rPr>
                <a:t>08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-5400000">
            <a:off x="1193858" y="2629947"/>
            <a:ext cx="570773" cy="355955"/>
          </a:xfrm>
          <a:custGeom>
            <a:avLst/>
            <a:gdLst/>
            <a:ahLst/>
            <a:cxnLst/>
            <a:rect r="r" b="b" t="t" l="l"/>
            <a:pathLst>
              <a:path h="355955" w="570773">
                <a:moveTo>
                  <a:pt x="0" y="0"/>
                </a:moveTo>
                <a:lnTo>
                  <a:pt x="570774" y="0"/>
                </a:lnTo>
                <a:lnTo>
                  <a:pt x="570774" y="355955"/>
                </a:lnTo>
                <a:lnTo>
                  <a:pt x="0" y="355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2138275" y="2291206"/>
            <a:ext cx="4628995" cy="92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3"/>
              </a:lnSpc>
              <a:spcBef>
                <a:spcPct val="0"/>
              </a:spcBef>
            </a:pPr>
            <a:r>
              <a:rPr lang="en-US" b="true" sz="5438" spc="1707">
                <a:solidFill>
                  <a:srgbClr val="231F2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목차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853732" y="6296984"/>
            <a:ext cx="3189322" cy="53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4"/>
              </a:lnSpc>
              <a:spcBef>
                <a:spcPct val="0"/>
              </a:spcBef>
            </a:pPr>
            <a:r>
              <a:rPr lang="en-US" b="true" sz="3074" spc="-30">
                <a:solidFill>
                  <a:srgbClr val="231F20"/>
                </a:solidFill>
                <a:latin typeface="Noto Sans Kr Medium"/>
                <a:ea typeface="Noto Sans Kr Medium"/>
                <a:cs typeface="Noto Sans Kr Medium"/>
                <a:sym typeface="Noto Sans Kr Medium"/>
              </a:rPr>
              <a:t>생성형 AI 사용 방법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853732" y="5089210"/>
            <a:ext cx="3810433" cy="53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4"/>
              </a:lnSpc>
              <a:spcBef>
                <a:spcPct val="0"/>
              </a:spcBef>
            </a:pPr>
            <a:r>
              <a:rPr lang="en-US" b="true" sz="3074" spc="-30">
                <a:solidFill>
                  <a:srgbClr val="231F20"/>
                </a:solidFill>
                <a:latin typeface="Noto Sans Kr Medium"/>
                <a:ea typeface="Noto Sans Kr Medium"/>
                <a:cs typeface="Noto Sans Kr Medium"/>
                <a:sym typeface="Noto Sans Kr Medium"/>
              </a:rPr>
              <a:t>어려웠던 점과 해결 방법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513779" y="6293791"/>
            <a:ext cx="3189322" cy="53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4"/>
              </a:lnSpc>
              <a:spcBef>
                <a:spcPct val="0"/>
              </a:spcBef>
            </a:pPr>
            <a:r>
              <a:rPr lang="en-US" b="true" sz="3074" spc="-30">
                <a:solidFill>
                  <a:srgbClr val="231F20"/>
                </a:solidFill>
                <a:latin typeface="Noto Sans Kr Medium"/>
                <a:ea typeface="Noto Sans Kr Medium"/>
                <a:cs typeface="Noto Sans Kr Medium"/>
                <a:sym typeface="Noto Sans Kr Medium"/>
              </a:rPr>
              <a:t>전이학습 모델 흐름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1755898" y="3789990"/>
            <a:ext cx="783509" cy="783509"/>
            <a:chOff x="0" y="0"/>
            <a:chExt cx="1044678" cy="1044678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1044678" cy="1044678"/>
              <a:chOff x="0" y="0"/>
              <a:chExt cx="812800" cy="8128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8595B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62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12695" y="147267"/>
              <a:ext cx="1031983" cy="6834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04"/>
                </a:lnSpc>
                <a:spcBef>
                  <a:spcPct val="0"/>
                </a:spcBef>
              </a:pPr>
              <a:r>
                <a:rPr lang="en-US" b="true" sz="3074">
                  <a:solidFill>
                    <a:srgbClr val="FFFFFF"/>
                  </a:solidFill>
                  <a:latin typeface="Noto Sans Kr Medium"/>
                  <a:ea typeface="Noto Sans Kr Medium"/>
                  <a:cs typeface="Noto Sans Kr Medium"/>
                  <a:sym typeface="Noto Sans Kr Medium"/>
                </a:rPr>
                <a:t>05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755898" y="4996543"/>
            <a:ext cx="783509" cy="783509"/>
            <a:chOff x="0" y="0"/>
            <a:chExt cx="1044678" cy="1044678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1044678" cy="1044678"/>
              <a:chOff x="0" y="0"/>
              <a:chExt cx="812800" cy="8128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8595B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62"/>
                  </a:lnSpc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12695" y="147267"/>
              <a:ext cx="1031983" cy="6834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04"/>
                </a:lnSpc>
                <a:spcBef>
                  <a:spcPct val="0"/>
                </a:spcBef>
              </a:pPr>
              <a:r>
                <a:rPr lang="en-US" b="true" sz="3074">
                  <a:solidFill>
                    <a:srgbClr val="FFFFFF"/>
                  </a:solidFill>
                  <a:latin typeface="Noto Sans Kr Medium"/>
                  <a:ea typeface="Noto Sans Kr Medium"/>
                  <a:cs typeface="Noto Sans Kr Medium"/>
                  <a:sym typeface="Noto Sans Kr Medium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5452" y="-514350"/>
            <a:ext cx="19038903" cy="2085381"/>
            <a:chOff x="0" y="0"/>
            <a:chExt cx="25385204" cy="278050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385204" cy="2101050"/>
              <a:chOff x="0" y="0"/>
              <a:chExt cx="5014361" cy="41502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014361" cy="415022"/>
              </a:xfrm>
              <a:custGeom>
                <a:avLst/>
                <a:gdLst/>
                <a:ahLst/>
                <a:cxnLst/>
                <a:rect r="r" b="b" t="t" l="l"/>
                <a:pathLst>
                  <a:path h="415022" w="5014361">
                    <a:moveTo>
                      <a:pt x="0" y="0"/>
                    </a:moveTo>
                    <a:lnTo>
                      <a:pt x="5014361" y="0"/>
                    </a:lnTo>
                    <a:lnTo>
                      <a:pt x="5014361" y="415022"/>
                    </a:lnTo>
                    <a:lnTo>
                      <a:pt x="0" y="415022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014361" cy="4626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8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5400000">
              <a:off x="12316082" y="-10968072"/>
              <a:ext cx="753040" cy="25385204"/>
            </a:xfrm>
            <a:custGeom>
              <a:avLst/>
              <a:gdLst/>
              <a:ahLst/>
              <a:cxnLst/>
              <a:rect r="r" b="b" t="t" l="l"/>
              <a:pathLst>
                <a:path h="25385204" w="753040">
                  <a:moveTo>
                    <a:pt x="0" y="0"/>
                  </a:moveTo>
                  <a:lnTo>
                    <a:pt x="753040" y="0"/>
                  </a:lnTo>
                  <a:lnTo>
                    <a:pt x="753040" y="25385204"/>
                  </a:lnTo>
                  <a:lnTo>
                    <a:pt x="0" y="25385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1000"/>
              </a:blip>
              <a:stretch>
                <a:fillRect l="0" t="-3557" r="-2022189" b="-2864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35625" y="1120205"/>
              <a:ext cx="1766279" cy="1660302"/>
            </a:xfrm>
            <a:custGeom>
              <a:avLst/>
              <a:gdLst/>
              <a:ahLst/>
              <a:cxnLst/>
              <a:rect r="r" b="b" t="t" l="l"/>
              <a:pathLst>
                <a:path h="1660302" w="1766279">
                  <a:moveTo>
                    <a:pt x="0" y="0"/>
                  </a:moveTo>
                  <a:lnTo>
                    <a:pt x="1766279" y="0"/>
                  </a:lnTo>
                  <a:lnTo>
                    <a:pt x="1766279" y="1660302"/>
                  </a:lnTo>
                  <a:lnTo>
                    <a:pt x="0" y="166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5400000">
            <a:off x="1193858" y="2629947"/>
            <a:ext cx="570773" cy="355955"/>
          </a:xfrm>
          <a:custGeom>
            <a:avLst/>
            <a:gdLst/>
            <a:ahLst/>
            <a:cxnLst/>
            <a:rect r="r" b="b" t="t" l="l"/>
            <a:pathLst>
              <a:path h="355955" w="570773">
                <a:moveTo>
                  <a:pt x="0" y="0"/>
                </a:moveTo>
                <a:lnTo>
                  <a:pt x="570774" y="0"/>
                </a:lnTo>
                <a:lnTo>
                  <a:pt x="570774" y="355955"/>
                </a:lnTo>
                <a:lnTo>
                  <a:pt x="0" y="355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25224" y="3574341"/>
            <a:ext cx="7136359" cy="3432426"/>
          </a:xfrm>
          <a:custGeom>
            <a:avLst/>
            <a:gdLst/>
            <a:ahLst/>
            <a:cxnLst/>
            <a:rect r="r" b="b" t="t" l="l"/>
            <a:pathLst>
              <a:path h="3432426" w="7136359">
                <a:moveTo>
                  <a:pt x="0" y="0"/>
                </a:moveTo>
                <a:lnTo>
                  <a:pt x="7136359" y="0"/>
                </a:lnTo>
                <a:lnTo>
                  <a:pt x="7136359" y="3432426"/>
                </a:lnTo>
                <a:lnTo>
                  <a:pt x="0" y="34324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251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825224" y="7437344"/>
            <a:ext cx="5333596" cy="1346755"/>
          </a:xfrm>
          <a:custGeom>
            <a:avLst/>
            <a:gdLst/>
            <a:ahLst/>
            <a:cxnLst/>
            <a:rect r="r" b="b" t="t" l="l"/>
            <a:pathLst>
              <a:path h="1346755" w="5333596">
                <a:moveTo>
                  <a:pt x="0" y="0"/>
                </a:moveTo>
                <a:lnTo>
                  <a:pt x="5333595" y="0"/>
                </a:lnTo>
                <a:lnTo>
                  <a:pt x="5333595" y="1346755"/>
                </a:lnTo>
                <a:lnTo>
                  <a:pt x="0" y="13467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836612"/>
            </a:stretch>
          </a:blipFill>
        </p:spPr>
      </p:sp>
      <p:graphicFrame>
        <p:nvGraphicFramePr>
          <p:cNvPr name="Object 11" id="11"/>
          <p:cNvGraphicFramePr/>
          <p:nvPr/>
        </p:nvGraphicFramePr>
        <p:xfrm>
          <a:off x="1634576" y="3480608"/>
          <a:ext cx="3771900" cy="3771900"/>
        </p:xfrm>
        <a:graphic>
          <a:graphicData uri="http://schemas.openxmlformats.org/presentationml/2006/ole">
            <p:oleObj imgW="4521200" imgH="45212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2138275" y="2291206"/>
            <a:ext cx="4628995" cy="92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3"/>
              </a:lnSpc>
              <a:spcBef>
                <a:spcPct val="0"/>
              </a:spcBef>
            </a:pPr>
            <a:r>
              <a:rPr lang="en-US" b="true" sz="5438" spc="-54">
                <a:solidFill>
                  <a:srgbClr val="231F2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데이터셋 구조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41182" y="3480608"/>
            <a:ext cx="7320401" cy="3673467"/>
            <a:chOff x="0" y="0"/>
            <a:chExt cx="1928007" cy="9674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8007" cy="967497"/>
            </a:xfrm>
            <a:custGeom>
              <a:avLst/>
              <a:gdLst/>
              <a:ahLst/>
              <a:cxnLst/>
              <a:rect r="r" b="b" t="t" l="l"/>
              <a:pathLst>
                <a:path h="967497" w="1928007">
                  <a:moveTo>
                    <a:pt x="53937" y="0"/>
                  </a:moveTo>
                  <a:lnTo>
                    <a:pt x="1874070" y="0"/>
                  </a:lnTo>
                  <a:cubicBezTo>
                    <a:pt x="1888375" y="0"/>
                    <a:pt x="1902094" y="5683"/>
                    <a:pt x="1912209" y="15798"/>
                  </a:cubicBezTo>
                  <a:cubicBezTo>
                    <a:pt x="1922324" y="25913"/>
                    <a:pt x="1928007" y="39632"/>
                    <a:pt x="1928007" y="53937"/>
                  </a:cubicBezTo>
                  <a:lnTo>
                    <a:pt x="1928007" y="913561"/>
                  </a:lnTo>
                  <a:cubicBezTo>
                    <a:pt x="1928007" y="927866"/>
                    <a:pt x="1922324" y="941585"/>
                    <a:pt x="1912209" y="951700"/>
                  </a:cubicBezTo>
                  <a:cubicBezTo>
                    <a:pt x="1902094" y="961815"/>
                    <a:pt x="1888375" y="967497"/>
                    <a:pt x="1874070" y="967497"/>
                  </a:cubicBezTo>
                  <a:lnTo>
                    <a:pt x="53937" y="967497"/>
                  </a:lnTo>
                  <a:cubicBezTo>
                    <a:pt x="39632" y="967497"/>
                    <a:pt x="25913" y="961815"/>
                    <a:pt x="15798" y="951700"/>
                  </a:cubicBezTo>
                  <a:cubicBezTo>
                    <a:pt x="5683" y="941585"/>
                    <a:pt x="0" y="927866"/>
                    <a:pt x="0" y="913561"/>
                  </a:cubicBezTo>
                  <a:lnTo>
                    <a:pt x="0" y="53937"/>
                  </a:lnTo>
                  <a:cubicBezTo>
                    <a:pt x="0" y="39632"/>
                    <a:pt x="5683" y="25913"/>
                    <a:pt x="15798" y="15798"/>
                  </a:cubicBezTo>
                  <a:cubicBezTo>
                    <a:pt x="25913" y="5683"/>
                    <a:pt x="39632" y="0"/>
                    <a:pt x="53937" y="0"/>
                  </a:cubicBezTo>
                  <a:close/>
                </a:path>
              </a:pathLst>
            </a:custGeom>
            <a:ln w="38100" cap="rnd">
              <a:solidFill>
                <a:srgbClr val="58595B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928007" cy="1015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6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41182" y="7259189"/>
            <a:ext cx="7320401" cy="1703065"/>
            <a:chOff x="0" y="0"/>
            <a:chExt cx="1928007" cy="4485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28007" cy="448544"/>
            </a:xfrm>
            <a:custGeom>
              <a:avLst/>
              <a:gdLst/>
              <a:ahLst/>
              <a:cxnLst/>
              <a:rect r="r" b="b" t="t" l="l"/>
              <a:pathLst>
                <a:path h="448544" w="1928007">
                  <a:moveTo>
                    <a:pt x="53937" y="0"/>
                  </a:moveTo>
                  <a:lnTo>
                    <a:pt x="1874070" y="0"/>
                  </a:lnTo>
                  <a:cubicBezTo>
                    <a:pt x="1888375" y="0"/>
                    <a:pt x="1902094" y="5683"/>
                    <a:pt x="1912209" y="15798"/>
                  </a:cubicBezTo>
                  <a:cubicBezTo>
                    <a:pt x="1922324" y="25913"/>
                    <a:pt x="1928007" y="39632"/>
                    <a:pt x="1928007" y="53937"/>
                  </a:cubicBezTo>
                  <a:lnTo>
                    <a:pt x="1928007" y="394607"/>
                  </a:lnTo>
                  <a:cubicBezTo>
                    <a:pt x="1928007" y="408912"/>
                    <a:pt x="1922324" y="422631"/>
                    <a:pt x="1912209" y="432746"/>
                  </a:cubicBezTo>
                  <a:cubicBezTo>
                    <a:pt x="1902094" y="442861"/>
                    <a:pt x="1888375" y="448544"/>
                    <a:pt x="1874070" y="448544"/>
                  </a:cubicBezTo>
                  <a:lnTo>
                    <a:pt x="53937" y="448544"/>
                  </a:lnTo>
                  <a:cubicBezTo>
                    <a:pt x="39632" y="448544"/>
                    <a:pt x="25913" y="442861"/>
                    <a:pt x="15798" y="432746"/>
                  </a:cubicBezTo>
                  <a:cubicBezTo>
                    <a:pt x="5683" y="422631"/>
                    <a:pt x="0" y="408912"/>
                    <a:pt x="0" y="394607"/>
                  </a:cubicBezTo>
                  <a:lnTo>
                    <a:pt x="0" y="53937"/>
                  </a:lnTo>
                  <a:cubicBezTo>
                    <a:pt x="0" y="39632"/>
                    <a:pt x="5683" y="25913"/>
                    <a:pt x="15798" y="15798"/>
                  </a:cubicBezTo>
                  <a:cubicBezTo>
                    <a:pt x="25913" y="5683"/>
                    <a:pt x="39632" y="0"/>
                    <a:pt x="53937" y="0"/>
                  </a:cubicBezTo>
                  <a:close/>
                </a:path>
              </a:pathLst>
            </a:custGeom>
            <a:ln w="38100" cap="rnd">
              <a:solidFill>
                <a:srgbClr val="58595B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28007" cy="496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6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34576" y="8110722"/>
            <a:ext cx="7486778" cy="1306656"/>
            <a:chOff x="0" y="0"/>
            <a:chExt cx="1971826" cy="3441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1826" cy="344140"/>
            </a:xfrm>
            <a:custGeom>
              <a:avLst/>
              <a:gdLst/>
              <a:ahLst/>
              <a:cxnLst/>
              <a:rect r="r" b="b" t="t" l="l"/>
              <a:pathLst>
                <a:path h="344140" w="1971826">
                  <a:moveTo>
                    <a:pt x="52738" y="0"/>
                  </a:moveTo>
                  <a:lnTo>
                    <a:pt x="1919088" y="0"/>
                  </a:lnTo>
                  <a:cubicBezTo>
                    <a:pt x="1933075" y="0"/>
                    <a:pt x="1946489" y="5556"/>
                    <a:pt x="1956380" y="15447"/>
                  </a:cubicBezTo>
                  <a:cubicBezTo>
                    <a:pt x="1966270" y="25337"/>
                    <a:pt x="1971826" y="38751"/>
                    <a:pt x="1971826" y="52738"/>
                  </a:cubicBezTo>
                  <a:lnTo>
                    <a:pt x="1971826" y="291402"/>
                  </a:lnTo>
                  <a:cubicBezTo>
                    <a:pt x="1971826" y="320528"/>
                    <a:pt x="1948215" y="344140"/>
                    <a:pt x="1919088" y="344140"/>
                  </a:cubicBezTo>
                  <a:lnTo>
                    <a:pt x="52738" y="344140"/>
                  </a:lnTo>
                  <a:cubicBezTo>
                    <a:pt x="23612" y="344140"/>
                    <a:pt x="0" y="320528"/>
                    <a:pt x="0" y="291402"/>
                  </a:cubicBezTo>
                  <a:lnTo>
                    <a:pt x="0" y="52738"/>
                  </a:lnTo>
                  <a:cubicBezTo>
                    <a:pt x="0" y="23612"/>
                    <a:pt x="23612" y="0"/>
                    <a:pt x="52738" y="0"/>
                  </a:cubicBezTo>
                  <a:close/>
                </a:path>
              </a:pathLst>
            </a:custGeom>
            <a:ln w="38100" cap="rnd">
              <a:solidFill>
                <a:srgbClr val="58595B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971826" cy="391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62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115629" y="8195407"/>
            <a:ext cx="6440239" cy="109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클래스 수 : 10개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학습 데이터 : 723개 → train 578 / val 145 (8:2 분리)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이미지 : RGB 3채널, 224x224 resize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5452" y="-514350"/>
            <a:ext cx="19038903" cy="2085381"/>
            <a:chOff x="0" y="0"/>
            <a:chExt cx="25385204" cy="278050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385204" cy="2101050"/>
              <a:chOff x="0" y="0"/>
              <a:chExt cx="5014361" cy="41502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014361" cy="415022"/>
              </a:xfrm>
              <a:custGeom>
                <a:avLst/>
                <a:gdLst/>
                <a:ahLst/>
                <a:cxnLst/>
                <a:rect r="r" b="b" t="t" l="l"/>
                <a:pathLst>
                  <a:path h="415022" w="5014361">
                    <a:moveTo>
                      <a:pt x="0" y="0"/>
                    </a:moveTo>
                    <a:lnTo>
                      <a:pt x="5014361" y="0"/>
                    </a:lnTo>
                    <a:lnTo>
                      <a:pt x="5014361" y="415022"/>
                    </a:lnTo>
                    <a:lnTo>
                      <a:pt x="0" y="415022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014361" cy="4626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8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5400000">
              <a:off x="12316082" y="-10968072"/>
              <a:ext cx="753040" cy="25385204"/>
            </a:xfrm>
            <a:custGeom>
              <a:avLst/>
              <a:gdLst/>
              <a:ahLst/>
              <a:cxnLst/>
              <a:rect r="r" b="b" t="t" l="l"/>
              <a:pathLst>
                <a:path h="25385204" w="753040">
                  <a:moveTo>
                    <a:pt x="0" y="0"/>
                  </a:moveTo>
                  <a:lnTo>
                    <a:pt x="753040" y="0"/>
                  </a:lnTo>
                  <a:lnTo>
                    <a:pt x="753040" y="25385204"/>
                  </a:lnTo>
                  <a:lnTo>
                    <a:pt x="0" y="25385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1000"/>
              </a:blip>
              <a:stretch>
                <a:fillRect l="0" t="-3557" r="-2022189" b="-2864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35625" y="1120205"/>
              <a:ext cx="1766279" cy="1660302"/>
            </a:xfrm>
            <a:custGeom>
              <a:avLst/>
              <a:gdLst/>
              <a:ahLst/>
              <a:cxnLst/>
              <a:rect r="r" b="b" t="t" l="l"/>
              <a:pathLst>
                <a:path h="1660302" w="1766279">
                  <a:moveTo>
                    <a:pt x="0" y="0"/>
                  </a:moveTo>
                  <a:lnTo>
                    <a:pt x="1766279" y="0"/>
                  </a:lnTo>
                  <a:lnTo>
                    <a:pt x="1766279" y="1660302"/>
                  </a:lnTo>
                  <a:lnTo>
                    <a:pt x="0" y="166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5400000">
            <a:off x="658605" y="1992544"/>
            <a:ext cx="570773" cy="355955"/>
          </a:xfrm>
          <a:custGeom>
            <a:avLst/>
            <a:gdLst/>
            <a:ahLst/>
            <a:cxnLst/>
            <a:rect r="r" b="b" t="t" l="l"/>
            <a:pathLst>
              <a:path h="355955" w="570773">
                <a:moveTo>
                  <a:pt x="0" y="0"/>
                </a:moveTo>
                <a:lnTo>
                  <a:pt x="570773" y="0"/>
                </a:lnTo>
                <a:lnTo>
                  <a:pt x="570773" y="355955"/>
                </a:lnTo>
                <a:lnTo>
                  <a:pt x="0" y="355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1696" y="3601741"/>
            <a:ext cx="8398280" cy="2754275"/>
          </a:xfrm>
          <a:custGeom>
            <a:avLst/>
            <a:gdLst/>
            <a:ahLst/>
            <a:cxnLst/>
            <a:rect r="r" b="b" t="t" l="l"/>
            <a:pathLst>
              <a:path h="2754275" w="8398280">
                <a:moveTo>
                  <a:pt x="0" y="0"/>
                </a:moveTo>
                <a:lnTo>
                  <a:pt x="8398280" y="0"/>
                </a:lnTo>
                <a:lnTo>
                  <a:pt x="8398280" y="2754274"/>
                </a:lnTo>
                <a:lnTo>
                  <a:pt x="0" y="27542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786657" y="4145679"/>
            <a:ext cx="6963045" cy="5839612"/>
            <a:chOff x="0" y="0"/>
            <a:chExt cx="1833888" cy="15380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33888" cy="1538005"/>
            </a:xfrm>
            <a:custGeom>
              <a:avLst/>
              <a:gdLst/>
              <a:ahLst/>
              <a:cxnLst/>
              <a:rect r="r" b="b" t="t" l="l"/>
              <a:pathLst>
                <a:path h="1538005" w="1833888">
                  <a:moveTo>
                    <a:pt x="56705" y="0"/>
                  </a:moveTo>
                  <a:lnTo>
                    <a:pt x="1777183" y="0"/>
                  </a:lnTo>
                  <a:cubicBezTo>
                    <a:pt x="1808501" y="0"/>
                    <a:pt x="1833888" y="25388"/>
                    <a:pt x="1833888" y="56705"/>
                  </a:cubicBezTo>
                  <a:lnTo>
                    <a:pt x="1833888" y="1481300"/>
                  </a:lnTo>
                  <a:cubicBezTo>
                    <a:pt x="1833888" y="1512617"/>
                    <a:pt x="1808501" y="1538005"/>
                    <a:pt x="1777183" y="1538005"/>
                  </a:cubicBezTo>
                  <a:lnTo>
                    <a:pt x="56705" y="1538005"/>
                  </a:lnTo>
                  <a:cubicBezTo>
                    <a:pt x="25388" y="1538005"/>
                    <a:pt x="0" y="1512617"/>
                    <a:pt x="0" y="1481300"/>
                  </a:cubicBezTo>
                  <a:lnTo>
                    <a:pt x="0" y="56705"/>
                  </a:lnTo>
                  <a:cubicBezTo>
                    <a:pt x="0" y="25388"/>
                    <a:pt x="25388" y="0"/>
                    <a:pt x="56705" y="0"/>
                  </a:cubicBezTo>
                  <a:close/>
                </a:path>
              </a:pathLst>
            </a:custGeom>
            <a:ln w="38100" cap="rnd">
              <a:solidFill>
                <a:srgbClr val="58595B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833888" cy="158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62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291683" y="4806550"/>
            <a:ext cx="4862729" cy="1912912"/>
          </a:xfrm>
          <a:custGeom>
            <a:avLst/>
            <a:gdLst/>
            <a:ahLst/>
            <a:cxnLst/>
            <a:rect r="r" b="b" t="t" l="l"/>
            <a:pathLst>
              <a:path h="1912912" w="4862729">
                <a:moveTo>
                  <a:pt x="0" y="0"/>
                </a:moveTo>
                <a:lnTo>
                  <a:pt x="4862730" y="0"/>
                </a:lnTo>
                <a:lnTo>
                  <a:pt x="4862730" y="1912912"/>
                </a:lnTo>
                <a:lnTo>
                  <a:pt x="0" y="19129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857054" y="7635532"/>
            <a:ext cx="6822251" cy="1622768"/>
          </a:xfrm>
          <a:custGeom>
            <a:avLst/>
            <a:gdLst/>
            <a:ahLst/>
            <a:cxnLst/>
            <a:rect r="r" b="b" t="t" l="l"/>
            <a:pathLst>
              <a:path h="1622768" w="6822251">
                <a:moveTo>
                  <a:pt x="0" y="0"/>
                </a:moveTo>
                <a:lnTo>
                  <a:pt x="6822251" y="0"/>
                </a:lnTo>
                <a:lnTo>
                  <a:pt x="6822251" y="1622768"/>
                </a:lnTo>
                <a:lnTo>
                  <a:pt x="0" y="16227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08782" y="3601741"/>
            <a:ext cx="9364107" cy="6440614"/>
            <a:chOff x="0" y="0"/>
            <a:chExt cx="2466267" cy="16962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66267" cy="1696294"/>
            </a:xfrm>
            <a:custGeom>
              <a:avLst/>
              <a:gdLst/>
              <a:ahLst/>
              <a:cxnLst/>
              <a:rect r="r" b="b" t="t" l="l"/>
              <a:pathLst>
                <a:path h="1696294" w="2466267">
                  <a:moveTo>
                    <a:pt x="42165" y="0"/>
                  </a:moveTo>
                  <a:lnTo>
                    <a:pt x="2424102" y="0"/>
                  </a:lnTo>
                  <a:cubicBezTo>
                    <a:pt x="2447389" y="0"/>
                    <a:pt x="2466267" y="18878"/>
                    <a:pt x="2466267" y="42165"/>
                  </a:cubicBezTo>
                  <a:lnTo>
                    <a:pt x="2466267" y="1654128"/>
                  </a:lnTo>
                  <a:cubicBezTo>
                    <a:pt x="2466267" y="1677416"/>
                    <a:pt x="2447389" y="1696294"/>
                    <a:pt x="2424102" y="1696294"/>
                  </a:cubicBezTo>
                  <a:lnTo>
                    <a:pt x="42165" y="1696294"/>
                  </a:lnTo>
                  <a:cubicBezTo>
                    <a:pt x="18878" y="1696294"/>
                    <a:pt x="0" y="1677416"/>
                    <a:pt x="0" y="1654128"/>
                  </a:cubicBezTo>
                  <a:lnTo>
                    <a:pt x="0" y="42165"/>
                  </a:lnTo>
                  <a:cubicBezTo>
                    <a:pt x="0" y="18878"/>
                    <a:pt x="18878" y="0"/>
                    <a:pt x="42165" y="0"/>
                  </a:cubicBezTo>
                  <a:close/>
                </a:path>
              </a:pathLst>
            </a:custGeom>
            <a:ln w="38100" cap="rnd">
              <a:solidFill>
                <a:srgbClr val="58595B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466267" cy="1743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62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47326" y="6441740"/>
            <a:ext cx="4332612" cy="3445387"/>
          </a:xfrm>
          <a:custGeom>
            <a:avLst/>
            <a:gdLst/>
            <a:ahLst/>
            <a:cxnLst/>
            <a:rect r="r" b="b" t="t" l="l"/>
            <a:pathLst>
              <a:path h="3445387" w="4332612">
                <a:moveTo>
                  <a:pt x="0" y="0"/>
                </a:moveTo>
                <a:lnTo>
                  <a:pt x="4332611" y="0"/>
                </a:lnTo>
                <a:lnTo>
                  <a:pt x="4332611" y="3445388"/>
                </a:lnTo>
                <a:lnTo>
                  <a:pt x="0" y="34453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03021" y="1653803"/>
            <a:ext cx="7540979" cy="92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3"/>
              </a:lnSpc>
              <a:spcBef>
                <a:spcPct val="0"/>
              </a:spcBef>
            </a:pPr>
            <a:r>
              <a:rPr lang="en-US" b="true" sz="5438" spc="-54">
                <a:solidFill>
                  <a:srgbClr val="231F2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기본 CNN 모델 흐름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96394" y="3535066"/>
            <a:ext cx="5765881" cy="53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4"/>
              </a:lnSpc>
              <a:spcBef>
                <a:spcPct val="0"/>
              </a:spcBef>
            </a:pPr>
            <a:r>
              <a:rPr lang="en-US" b="true" sz="3074" spc="-30">
                <a:solidFill>
                  <a:srgbClr val="231F20"/>
                </a:solidFill>
                <a:latin typeface="Noto Sans Kr Medium"/>
                <a:ea typeface="Noto Sans Kr Medium"/>
                <a:cs typeface="Noto Sans Kr Medium"/>
                <a:sym typeface="Noto Sans Kr Medium"/>
              </a:rPr>
              <a:t>학습 및 검증 함수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6080" y="2951496"/>
            <a:ext cx="3237086" cy="56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4"/>
              </a:lnSpc>
              <a:spcBef>
                <a:spcPct val="0"/>
              </a:spcBef>
            </a:pPr>
            <a:r>
              <a:rPr lang="en-US" b="true" sz="3274" spc="-32">
                <a:solidFill>
                  <a:srgbClr val="231F20"/>
                </a:solidFill>
                <a:latin typeface="Noto Sans Kr Medium"/>
                <a:ea typeface="Noto Sans Kr Medium"/>
                <a:cs typeface="Noto Sans Kr Medium"/>
                <a:sym typeface="Noto Sans Kr Medium"/>
              </a:rPr>
              <a:t>기본 CNN 모델 </a:t>
            </a:r>
          </a:p>
        </p:txBody>
      </p:sp>
      <p:sp>
        <p:nvSpPr>
          <p:cNvPr name="AutoShape 22" id="22"/>
          <p:cNvSpPr/>
          <p:nvPr/>
        </p:nvSpPr>
        <p:spPr>
          <a:xfrm>
            <a:off x="526080" y="6375065"/>
            <a:ext cx="9246809" cy="0"/>
          </a:xfrm>
          <a:prstGeom prst="line">
            <a:avLst/>
          </a:prstGeom>
          <a:ln cap="flat" w="38100">
            <a:solidFill>
              <a:srgbClr val="58595B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7880672" y="1885358"/>
            <a:ext cx="9869030" cy="107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4"/>
              </a:lnSpc>
              <a:spcBef>
                <a:spcPct val="0"/>
              </a:spcBef>
            </a:pPr>
            <a:r>
              <a:rPr lang="en-US" b="true" sz="3074" spc="-30">
                <a:solidFill>
                  <a:srgbClr val="231F20"/>
                </a:solidFill>
                <a:latin typeface="Noto Sans Kr Medium"/>
                <a:ea typeface="Noto Sans Kr Medium"/>
                <a:cs typeface="Noto Sans Kr Medium"/>
                <a:sym typeface="Noto Sans Kr Medium"/>
              </a:rPr>
              <a:t>Conv2d → BatchNorm → ReLU → MaxPool2d → Flatten → Linear(512) → Dropout(10) → Linear(10)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673757" y="1723820"/>
            <a:ext cx="10152441" cy="1543273"/>
            <a:chOff x="0" y="0"/>
            <a:chExt cx="2673894" cy="4064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73894" cy="406459"/>
            </a:xfrm>
            <a:custGeom>
              <a:avLst/>
              <a:gdLst/>
              <a:ahLst/>
              <a:cxnLst/>
              <a:rect r="r" b="b" t="t" l="l"/>
              <a:pathLst>
                <a:path h="406459" w="2673894">
                  <a:moveTo>
                    <a:pt x="38891" y="0"/>
                  </a:moveTo>
                  <a:lnTo>
                    <a:pt x="2635003" y="0"/>
                  </a:lnTo>
                  <a:cubicBezTo>
                    <a:pt x="2656482" y="0"/>
                    <a:pt x="2673894" y="17412"/>
                    <a:pt x="2673894" y="38891"/>
                  </a:cubicBezTo>
                  <a:lnTo>
                    <a:pt x="2673894" y="367568"/>
                  </a:lnTo>
                  <a:cubicBezTo>
                    <a:pt x="2673894" y="377882"/>
                    <a:pt x="2669796" y="387775"/>
                    <a:pt x="2662503" y="395068"/>
                  </a:cubicBezTo>
                  <a:cubicBezTo>
                    <a:pt x="2655209" y="402361"/>
                    <a:pt x="2645317" y="406459"/>
                    <a:pt x="2635003" y="406459"/>
                  </a:cubicBezTo>
                  <a:lnTo>
                    <a:pt x="38891" y="406459"/>
                  </a:lnTo>
                  <a:cubicBezTo>
                    <a:pt x="17412" y="406459"/>
                    <a:pt x="0" y="389047"/>
                    <a:pt x="0" y="367568"/>
                  </a:cubicBezTo>
                  <a:lnTo>
                    <a:pt x="0" y="38891"/>
                  </a:lnTo>
                  <a:cubicBezTo>
                    <a:pt x="0" y="17412"/>
                    <a:pt x="17412" y="0"/>
                    <a:pt x="38891" y="0"/>
                  </a:cubicBezTo>
                  <a:close/>
                </a:path>
              </a:pathLst>
            </a:custGeom>
            <a:ln w="38100" cap="rnd">
              <a:solidFill>
                <a:srgbClr val="58595B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673894" cy="454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62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5452" y="-514350"/>
            <a:ext cx="19038903" cy="2085381"/>
            <a:chOff x="0" y="0"/>
            <a:chExt cx="25385204" cy="278050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385204" cy="2101050"/>
              <a:chOff x="0" y="0"/>
              <a:chExt cx="5014361" cy="41502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014361" cy="415022"/>
              </a:xfrm>
              <a:custGeom>
                <a:avLst/>
                <a:gdLst/>
                <a:ahLst/>
                <a:cxnLst/>
                <a:rect r="r" b="b" t="t" l="l"/>
                <a:pathLst>
                  <a:path h="415022" w="5014361">
                    <a:moveTo>
                      <a:pt x="0" y="0"/>
                    </a:moveTo>
                    <a:lnTo>
                      <a:pt x="5014361" y="0"/>
                    </a:lnTo>
                    <a:lnTo>
                      <a:pt x="5014361" y="415022"/>
                    </a:lnTo>
                    <a:lnTo>
                      <a:pt x="0" y="415022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014361" cy="4626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8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5400000">
              <a:off x="12316082" y="-10968072"/>
              <a:ext cx="753040" cy="25385204"/>
            </a:xfrm>
            <a:custGeom>
              <a:avLst/>
              <a:gdLst/>
              <a:ahLst/>
              <a:cxnLst/>
              <a:rect r="r" b="b" t="t" l="l"/>
              <a:pathLst>
                <a:path h="25385204" w="753040">
                  <a:moveTo>
                    <a:pt x="0" y="0"/>
                  </a:moveTo>
                  <a:lnTo>
                    <a:pt x="753040" y="0"/>
                  </a:lnTo>
                  <a:lnTo>
                    <a:pt x="753040" y="25385204"/>
                  </a:lnTo>
                  <a:lnTo>
                    <a:pt x="0" y="25385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1000"/>
              </a:blip>
              <a:stretch>
                <a:fillRect l="0" t="-3557" r="-2022189" b="-2864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35625" y="1120205"/>
              <a:ext cx="1766279" cy="1660302"/>
            </a:xfrm>
            <a:custGeom>
              <a:avLst/>
              <a:gdLst/>
              <a:ahLst/>
              <a:cxnLst/>
              <a:rect r="r" b="b" t="t" l="l"/>
              <a:pathLst>
                <a:path h="1660302" w="1766279">
                  <a:moveTo>
                    <a:pt x="0" y="0"/>
                  </a:moveTo>
                  <a:lnTo>
                    <a:pt x="1766279" y="0"/>
                  </a:lnTo>
                  <a:lnTo>
                    <a:pt x="1766279" y="1660302"/>
                  </a:lnTo>
                  <a:lnTo>
                    <a:pt x="0" y="166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5400000">
            <a:off x="1329838" y="2228473"/>
            <a:ext cx="570773" cy="355955"/>
          </a:xfrm>
          <a:custGeom>
            <a:avLst/>
            <a:gdLst/>
            <a:ahLst/>
            <a:cxnLst/>
            <a:rect r="r" b="b" t="t" l="l"/>
            <a:pathLst>
              <a:path h="355955" w="570773">
                <a:moveTo>
                  <a:pt x="0" y="0"/>
                </a:moveTo>
                <a:lnTo>
                  <a:pt x="570773" y="0"/>
                </a:lnTo>
                <a:lnTo>
                  <a:pt x="570773" y="355955"/>
                </a:lnTo>
                <a:lnTo>
                  <a:pt x="0" y="355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37247" y="5116911"/>
            <a:ext cx="7429904" cy="2137329"/>
          </a:xfrm>
          <a:custGeom>
            <a:avLst/>
            <a:gdLst/>
            <a:ahLst/>
            <a:cxnLst/>
            <a:rect r="r" b="b" t="t" l="l"/>
            <a:pathLst>
              <a:path h="2137329" w="7429904">
                <a:moveTo>
                  <a:pt x="0" y="0"/>
                </a:moveTo>
                <a:lnTo>
                  <a:pt x="7429905" y="0"/>
                </a:lnTo>
                <a:lnTo>
                  <a:pt x="7429905" y="2137329"/>
                </a:lnTo>
                <a:lnTo>
                  <a:pt x="0" y="21373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840" r="0" b="-84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1686283"/>
            <a:ext cx="9278778" cy="8251615"/>
          </a:xfrm>
          <a:custGeom>
            <a:avLst/>
            <a:gdLst/>
            <a:ahLst/>
            <a:cxnLst/>
            <a:rect r="r" b="b" t="t" l="l"/>
            <a:pathLst>
              <a:path h="8251615" w="9278778">
                <a:moveTo>
                  <a:pt x="0" y="0"/>
                </a:moveTo>
                <a:lnTo>
                  <a:pt x="9278778" y="0"/>
                </a:lnTo>
                <a:lnTo>
                  <a:pt x="9278778" y="8251615"/>
                </a:lnTo>
                <a:lnTo>
                  <a:pt x="0" y="82516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77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144000" y="2222683"/>
            <a:ext cx="9144000" cy="1510072"/>
            <a:chOff x="0" y="0"/>
            <a:chExt cx="2408272" cy="3977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08272" cy="397731"/>
            </a:xfrm>
            <a:custGeom>
              <a:avLst/>
              <a:gdLst/>
              <a:ahLst/>
              <a:cxnLst/>
              <a:rect r="r" b="b" t="t" l="l"/>
              <a:pathLst>
                <a:path h="397731" w="2408272">
                  <a:moveTo>
                    <a:pt x="2408272" y="14393"/>
                  </a:moveTo>
                  <a:lnTo>
                    <a:pt x="2408272" y="383338"/>
                  </a:lnTo>
                  <a:cubicBezTo>
                    <a:pt x="2408272" y="387155"/>
                    <a:pt x="2406755" y="390816"/>
                    <a:pt x="2404056" y="393515"/>
                  </a:cubicBezTo>
                  <a:cubicBezTo>
                    <a:pt x="2401357" y="396215"/>
                    <a:pt x="2397696" y="397731"/>
                    <a:pt x="2393878" y="397731"/>
                  </a:cubicBezTo>
                  <a:lnTo>
                    <a:pt x="14393" y="397731"/>
                  </a:lnTo>
                  <a:cubicBezTo>
                    <a:pt x="10576" y="397731"/>
                    <a:pt x="6915" y="396215"/>
                    <a:pt x="4216" y="393515"/>
                  </a:cubicBezTo>
                  <a:cubicBezTo>
                    <a:pt x="1516" y="390816"/>
                    <a:pt x="0" y="387155"/>
                    <a:pt x="0" y="383338"/>
                  </a:cubicBezTo>
                  <a:lnTo>
                    <a:pt x="0" y="14393"/>
                  </a:lnTo>
                  <a:cubicBezTo>
                    <a:pt x="0" y="10576"/>
                    <a:pt x="1516" y="6915"/>
                    <a:pt x="4216" y="4216"/>
                  </a:cubicBezTo>
                  <a:cubicBezTo>
                    <a:pt x="6915" y="1516"/>
                    <a:pt x="10576" y="0"/>
                    <a:pt x="14393" y="0"/>
                  </a:cubicBezTo>
                  <a:lnTo>
                    <a:pt x="2393878" y="0"/>
                  </a:lnTo>
                  <a:cubicBezTo>
                    <a:pt x="2397696" y="0"/>
                    <a:pt x="2401357" y="1516"/>
                    <a:pt x="2404056" y="4216"/>
                  </a:cubicBezTo>
                  <a:cubicBezTo>
                    <a:pt x="2406755" y="6915"/>
                    <a:pt x="2408272" y="10576"/>
                    <a:pt x="2408272" y="14393"/>
                  </a:cubicBezTo>
                  <a:close/>
                </a:path>
              </a:pathLst>
            </a:custGeom>
            <a:ln w="2857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408272" cy="445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6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0" y="5971237"/>
            <a:ext cx="3690723" cy="2077077"/>
            <a:chOff x="0" y="0"/>
            <a:chExt cx="971468" cy="5467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1468" cy="546755"/>
            </a:xfrm>
            <a:custGeom>
              <a:avLst/>
              <a:gdLst/>
              <a:ahLst/>
              <a:cxnLst/>
              <a:rect r="r" b="b" t="t" l="l"/>
              <a:pathLst>
                <a:path h="546755" w="971468">
                  <a:moveTo>
                    <a:pt x="971468" y="35660"/>
                  </a:moveTo>
                  <a:lnTo>
                    <a:pt x="971468" y="511094"/>
                  </a:lnTo>
                  <a:cubicBezTo>
                    <a:pt x="971468" y="520552"/>
                    <a:pt x="967711" y="529622"/>
                    <a:pt x="961023" y="536310"/>
                  </a:cubicBezTo>
                  <a:cubicBezTo>
                    <a:pt x="954336" y="542997"/>
                    <a:pt x="945265" y="546755"/>
                    <a:pt x="935808" y="546755"/>
                  </a:cubicBezTo>
                  <a:lnTo>
                    <a:pt x="35660" y="546755"/>
                  </a:lnTo>
                  <a:cubicBezTo>
                    <a:pt x="26203" y="546755"/>
                    <a:pt x="17132" y="542997"/>
                    <a:pt x="10445" y="536310"/>
                  </a:cubicBezTo>
                  <a:cubicBezTo>
                    <a:pt x="3757" y="529622"/>
                    <a:pt x="0" y="520552"/>
                    <a:pt x="0" y="511094"/>
                  </a:cubicBezTo>
                  <a:lnTo>
                    <a:pt x="0" y="35660"/>
                  </a:lnTo>
                  <a:cubicBezTo>
                    <a:pt x="0" y="26203"/>
                    <a:pt x="3757" y="17132"/>
                    <a:pt x="10445" y="10445"/>
                  </a:cubicBezTo>
                  <a:cubicBezTo>
                    <a:pt x="17132" y="3757"/>
                    <a:pt x="26203" y="0"/>
                    <a:pt x="35660" y="0"/>
                  </a:cubicBezTo>
                  <a:lnTo>
                    <a:pt x="935808" y="0"/>
                  </a:lnTo>
                  <a:cubicBezTo>
                    <a:pt x="945265" y="0"/>
                    <a:pt x="954336" y="3757"/>
                    <a:pt x="961023" y="10445"/>
                  </a:cubicBezTo>
                  <a:cubicBezTo>
                    <a:pt x="967711" y="17132"/>
                    <a:pt x="971468" y="26203"/>
                    <a:pt x="971468" y="35660"/>
                  </a:cubicBezTo>
                  <a:close/>
                </a:path>
              </a:pathLst>
            </a:custGeom>
            <a:ln w="2857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71468" cy="594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62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896132" y="4100295"/>
            <a:ext cx="4291325" cy="3948019"/>
          </a:xfrm>
          <a:custGeom>
            <a:avLst/>
            <a:gdLst/>
            <a:ahLst/>
            <a:cxnLst/>
            <a:rect r="r" b="b" t="t" l="l"/>
            <a:pathLst>
              <a:path h="3948019" w="4291325">
                <a:moveTo>
                  <a:pt x="0" y="0"/>
                </a:moveTo>
                <a:lnTo>
                  <a:pt x="4291325" y="0"/>
                </a:lnTo>
                <a:lnTo>
                  <a:pt x="4291325" y="3948019"/>
                </a:lnTo>
                <a:lnTo>
                  <a:pt x="0" y="39480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274255" y="1889733"/>
            <a:ext cx="6458885" cy="92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3"/>
              </a:lnSpc>
              <a:spcBef>
                <a:spcPct val="0"/>
              </a:spcBef>
            </a:pPr>
            <a:r>
              <a:rPr lang="en-US" b="true" sz="5438" spc="-54">
                <a:solidFill>
                  <a:srgbClr val="231F2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전이학습 모델 흐름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7247" y="3252336"/>
            <a:ext cx="6458885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0"/>
              </a:lnSpc>
            </a:pPr>
            <a:r>
              <a:rPr lang="en-US" sz="2000" spc="-20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전이학습 모델 - ResNet18 / ResNet50</a:t>
            </a:r>
          </a:p>
          <a:p>
            <a:pPr algn="l" marL="431801" indent="-215900" lvl="1">
              <a:lnSpc>
                <a:spcPts val="3420"/>
              </a:lnSpc>
              <a:buFont typeface="Arial"/>
              <a:buChar char="•"/>
            </a:pPr>
            <a:r>
              <a:rPr lang="en-US" sz="2000" spc="-20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ImageNet으로 사전 학습된 가중치 재사용</a:t>
            </a:r>
          </a:p>
          <a:p>
            <a:pPr algn="l" marL="431801" indent="-215900" lvl="1">
              <a:lnSpc>
                <a:spcPts val="3420"/>
              </a:lnSpc>
              <a:buFont typeface="Arial"/>
              <a:buChar char="•"/>
            </a:pPr>
            <a:r>
              <a:rPr lang="en-US" sz="2000" spc="-20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ResNet : 잔차연결로 기울기 소실 문제 해결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7247" y="7578090"/>
            <a:ext cx="7429904" cy="168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20"/>
              </a:lnSpc>
              <a:buFont typeface="Arial"/>
              <a:buChar char="•"/>
            </a:pPr>
            <a:r>
              <a:rPr lang="en-US" sz="2000" spc="-20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ResNet18 / ResNet50 선택</a:t>
            </a:r>
          </a:p>
          <a:p>
            <a:pPr algn="l" marL="431801" indent="-215900" lvl="1">
              <a:lnSpc>
                <a:spcPts val="3420"/>
              </a:lnSpc>
              <a:buFont typeface="Arial"/>
              <a:buChar char="•"/>
            </a:pPr>
            <a:r>
              <a:rPr lang="en-US" sz="2000" spc="-20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원래 1000개 클래스로 출력하는 fc layer를 10개 클래스에 맞게 교체 + freeze 전략을 3가지로 나누어 비교</a:t>
            </a:r>
          </a:p>
          <a:p>
            <a:pPr algn="l" marL="431801" indent="-215900" lvl="1">
              <a:lnSpc>
                <a:spcPts val="3420"/>
              </a:lnSpc>
              <a:buFont typeface="Arial"/>
              <a:buChar char="•"/>
            </a:pPr>
            <a:r>
              <a:rPr lang="en-US" sz="2000" spc="-20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실험에서 에폭마다 val_acc가 어떻게 변화하는지 확인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783389" y="3997227"/>
            <a:ext cx="4404068" cy="4051087"/>
            <a:chOff x="0" y="0"/>
            <a:chExt cx="1159234" cy="10663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59234" cy="1066378"/>
            </a:xfrm>
            <a:custGeom>
              <a:avLst/>
              <a:gdLst/>
              <a:ahLst/>
              <a:cxnLst/>
              <a:rect r="r" b="b" t="t" l="l"/>
              <a:pathLst>
                <a:path h="1066378" w="1159234">
                  <a:moveTo>
                    <a:pt x="1159234" y="29884"/>
                  </a:moveTo>
                  <a:lnTo>
                    <a:pt x="1159234" y="1036494"/>
                  </a:lnTo>
                  <a:cubicBezTo>
                    <a:pt x="1159234" y="1044420"/>
                    <a:pt x="1156085" y="1052021"/>
                    <a:pt x="1150481" y="1057625"/>
                  </a:cubicBezTo>
                  <a:cubicBezTo>
                    <a:pt x="1144877" y="1063230"/>
                    <a:pt x="1137275" y="1066378"/>
                    <a:pt x="1129350" y="1066378"/>
                  </a:cubicBezTo>
                  <a:lnTo>
                    <a:pt x="29884" y="1066378"/>
                  </a:lnTo>
                  <a:cubicBezTo>
                    <a:pt x="13380" y="1066378"/>
                    <a:pt x="0" y="1052999"/>
                    <a:pt x="0" y="1036494"/>
                  </a:cubicBezTo>
                  <a:lnTo>
                    <a:pt x="0" y="29884"/>
                  </a:lnTo>
                  <a:cubicBezTo>
                    <a:pt x="0" y="13380"/>
                    <a:pt x="13380" y="0"/>
                    <a:pt x="29884" y="0"/>
                  </a:cubicBezTo>
                  <a:lnTo>
                    <a:pt x="1129350" y="0"/>
                  </a:lnTo>
                  <a:cubicBezTo>
                    <a:pt x="1137275" y="0"/>
                    <a:pt x="1144877" y="3149"/>
                    <a:pt x="1150481" y="8753"/>
                  </a:cubicBezTo>
                  <a:cubicBezTo>
                    <a:pt x="1156085" y="14357"/>
                    <a:pt x="1159234" y="21959"/>
                    <a:pt x="1159234" y="29884"/>
                  </a:cubicBezTo>
                  <a:close/>
                </a:path>
              </a:pathLst>
            </a:custGeom>
            <a:ln w="2857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159234" cy="1114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62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5452" y="-514350"/>
            <a:ext cx="19038903" cy="2085381"/>
            <a:chOff x="0" y="0"/>
            <a:chExt cx="25385204" cy="278050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385204" cy="2101050"/>
              <a:chOff x="0" y="0"/>
              <a:chExt cx="5014361" cy="41502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014361" cy="415022"/>
              </a:xfrm>
              <a:custGeom>
                <a:avLst/>
                <a:gdLst/>
                <a:ahLst/>
                <a:cxnLst/>
                <a:rect r="r" b="b" t="t" l="l"/>
                <a:pathLst>
                  <a:path h="415022" w="5014361">
                    <a:moveTo>
                      <a:pt x="0" y="0"/>
                    </a:moveTo>
                    <a:lnTo>
                      <a:pt x="5014361" y="0"/>
                    </a:lnTo>
                    <a:lnTo>
                      <a:pt x="5014361" y="415022"/>
                    </a:lnTo>
                    <a:lnTo>
                      <a:pt x="0" y="415022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014361" cy="4626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8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5400000">
              <a:off x="12316082" y="-10968072"/>
              <a:ext cx="753040" cy="25385204"/>
            </a:xfrm>
            <a:custGeom>
              <a:avLst/>
              <a:gdLst/>
              <a:ahLst/>
              <a:cxnLst/>
              <a:rect r="r" b="b" t="t" l="l"/>
              <a:pathLst>
                <a:path h="25385204" w="753040">
                  <a:moveTo>
                    <a:pt x="0" y="0"/>
                  </a:moveTo>
                  <a:lnTo>
                    <a:pt x="753040" y="0"/>
                  </a:lnTo>
                  <a:lnTo>
                    <a:pt x="753040" y="25385204"/>
                  </a:lnTo>
                  <a:lnTo>
                    <a:pt x="0" y="25385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1000"/>
              </a:blip>
              <a:stretch>
                <a:fillRect l="0" t="-3557" r="-2022189" b="-2864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35625" y="1120205"/>
              <a:ext cx="1766279" cy="1660302"/>
            </a:xfrm>
            <a:custGeom>
              <a:avLst/>
              <a:gdLst/>
              <a:ahLst/>
              <a:cxnLst/>
              <a:rect r="r" b="b" t="t" l="l"/>
              <a:pathLst>
                <a:path h="1660302" w="1766279">
                  <a:moveTo>
                    <a:pt x="0" y="0"/>
                  </a:moveTo>
                  <a:lnTo>
                    <a:pt x="1766279" y="0"/>
                  </a:lnTo>
                  <a:lnTo>
                    <a:pt x="1766279" y="1660302"/>
                  </a:lnTo>
                  <a:lnTo>
                    <a:pt x="0" y="166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5400000">
            <a:off x="323481" y="1804996"/>
            <a:ext cx="570773" cy="355955"/>
          </a:xfrm>
          <a:custGeom>
            <a:avLst/>
            <a:gdLst/>
            <a:ahLst/>
            <a:cxnLst/>
            <a:rect r="r" b="b" t="t" l="l"/>
            <a:pathLst>
              <a:path h="355955" w="570773">
                <a:moveTo>
                  <a:pt x="0" y="0"/>
                </a:moveTo>
                <a:lnTo>
                  <a:pt x="570773" y="0"/>
                </a:lnTo>
                <a:lnTo>
                  <a:pt x="570773" y="355955"/>
                </a:lnTo>
                <a:lnTo>
                  <a:pt x="0" y="355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6419" y="3180927"/>
            <a:ext cx="9341796" cy="1541396"/>
          </a:xfrm>
          <a:custGeom>
            <a:avLst/>
            <a:gdLst/>
            <a:ahLst/>
            <a:cxnLst/>
            <a:rect r="r" b="b" t="t" l="l"/>
            <a:pathLst>
              <a:path h="1541396" w="9341796">
                <a:moveTo>
                  <a:pt x="0" y="0"/>
                </a:moveTo>
                <a:lnTo>
                  <a:pt x="9341796" y="0"/>
                </a:lnTo>
                <a:lnTo>
                  <a:pt x="9341796" y="1541396"/>
                </a:lnTo>
                <a:lnTo>
                  <a:pt x="0" y="15413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91927" y="6880535"/>
            <a:ext cx="7971792" cy="2281331"/>
          </a:xfrm>
          <a:custGeom>
            <a:avLst/>
            <a:gdLst/>
            <a:ahLst/>
            <a:cxnLst/>
            <a:rect r="r" b="b" t="t" l="l"/>
            <a:pathLst>
              <a:path h="2281331" w="7971792">
                <a:moveTo>
                  <a:pt x="0" y="0"/>
                </a:moveTo>
                <a:lnTo>
                  <a:pt x="7971792" y="0"/>
                </a:lnTo>
                <a:lnTo>
                  <a:pt x="7971792" y="2281331"/>
                </a:lnTo>
                <a:lnTo>
                  <a:pt x="0" y="22813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105" r="0" b="-110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82249" y="1100050"/>
            <a:ext cx="6967540" cy="5129611"/>
          </a:xfrm>
          <a:custGeom>
            <a:avLst/>
            <a:gdLst/>
            <a:ahLst/>
            <a:cxnLst/>
            <a:rect r="r" b="b" t="t" l="l"/>
            <a:pathLst>
              <a:path h="5129611" w="6967540">
                <a:moveTo>
                  <a:pt x="0" y="0"/>
                </a:moveTo>
                <a:lnTo>
                  <a:pt x="6967540" y="0"/>
                </a:lnTo>
                <a:lnTo>
                  <a:pt x="6967540" y="5129610"/>
                </a:lnTo>
                <a:lnTo>
                  <a:pt x="0" y="51296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507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636127" y="4094452"/>
            <a:ext cx="4027324" cy="6192548"/>
          </a:xfrm>
          <a:custGeom>
            <a:avLst/>
            <a:gdLst/>
            <a:ahLst/>
            <a:cxnLst/>
            <a:rect r="r" b="b" t="t" l="l"/>
            <a:pathLst>
              <a:path h="6192548" w="4027324">
                <a:moveTo>
                  <a:pt x="0" y="0"/>
                </a:moveTo>
                <a:lnTo>
                  <a:pt x="4027325" y="0"/>
                </a:lnTo>
                <a:lnTo>
                  <a:pt x="4027325" y="6192548"/>
                </a:lnTo>
                <a:lnTo>
                  <a:pt x="0" y="61925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1021" b="-2654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67897" y="1466256"/>
            <a:ext cx="6458885" cy="92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3"/>
              </a:lnSpc>
              <a:spcBef>
                <a:spcPct val="0"/>
              </a:spcBef>
            </a:pPr>
            <a:r>
              <a:rPr lang="en-US" b="true" sz="5438" spc="-54">
                <a:solidFill>
                  <a:srgbClr val="231F2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성능 개선 실험 과정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6419" y="2606252"/>
            <a:ext cx="9701790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[하이퍼파라미터 튜닝]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1927" y="6305860"/>
            <a:ext cx="9701790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[데이터 증강 방식 비교]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912" y="4858484"/>
            <a:ext cx="10534071" cy="84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432"/>
              </a:lnSpc>
              <a:buFont typeface="Arial"/>
              <a:buChar char="•"/>
            </a:pPr>
            <a:r>
              <a:rPr lang="en-US" sz="2400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하이퍼파라미터 튜닝에서는 AdamW + lr=le-4 조합이 가장 좋았음</a:t>
            </a:r>
          </a:p>
          <a:p>
            <a:pPr algn="l" marL="518160" indent="-259080" lvl="1">
              <a:lnSpc>
                <a:spcPts val="3432"/>
              </a:lnSpc>
              <a:buFont typeface="Arial"/>
              <a:buChar char="•"/>
            </a:pPr>
            <a:r>
              <a:rPr lang="en-US" sz="2400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SGD는학습률이 너무 커서 가중치 업데이트가 불안정하여 30%대에 그침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6419" y="9228541"/>
            <a:ext cx="10738099" cy="84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432"/>
              </a:lnSpc>
              <a:buFont typeface="Arial"/>
              <a:buChar char="•"/>
            </a:pPr>
            <a:r>
              <a:rPr lang="en-US" sz="2400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증강 비교에서는 Basic Augmentation이 96.55%로 가장 높았음</a:t>
            </a:r>
          </a:p>
          <a:p>
            <a:pPr algn="l" marL="518160" indent="-259080" lvl="1">
              <a:lnSpc>
                <a:spcPts val="3432"/>
              </a:lnSpc>
              <a:buFont typeface="Arial"/>
              <a:buChar char="•"/>
            </a:pPr>
            <a:r>
              <a:rPr lang="en-US" sz="2400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ColorJitter까지 추가한 Strong Augmentation은 오히려 성능이 낮아짐</a:t>
            </a:r>
          </a:p>
        </p:txBody>
      </p:sp>
      <p:sp>
        <p:nvSpPr>
          <p:cNvPr name="AutoShape 18" id="18"/>
          <p:cNvSpPr/>
          <p:nvPr/>
        </p:nvSpPr>
        <p:spPr>
          <a:xfrm flipV="true">
            <a:off x="8901955" y="7394885"/>
            <a:ext cx="5095937" cy="14288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19" id="19"/>
          <p:cNvSpPr/>
          <p:nvPr/>
        </p:nvSpPr>
        <p:spPr>
          <a:xfrm flipV="true">
            <a:off x="6202771" y="1982974"/>
            <a:ext cx="3199663" cy="891566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grpSp>
        <p:nvGrpSpPr>
          <p:cNvPr name="Group 20" id="20"/>
          <p:cNvGrpSpPr/>
          <p:nvPr/>
        </p:nvGrpSpPr>
        <p:grpSpPr>
          <a:xfrm rot="0">
            <a:off x="9682249" y="1802664"/>
            <a:ext cx="4578515" cy="700356"/>
            <a:chOff x="0" y="0"/>
            <a:chExt cx="1205152" cy="1843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05152" cy="184356"/>
            </a:xfrm>
            <a:custGeom>
              <a:avLst/>
              <a:gdLst/>
              <a:ahLst/>
              <a:cxnLst/>
              <a:rect r="r" b="b" t="t" l="l"/>
              <a:pathLst>
                <a:path h="184356" w="1205152">
                  <a:moveTo>
                    <a:pt x="1205152" y="28746"/>
                  </a:moveTo>
                  <a:lnTo>
                    <a:pt x="1205152" y="155611"/>
                  </a:lnTo>
                  <a:cubicBezTo>
                    <a:pt x="1205152" y="171487"/>
                    <a:pt x="1192282" y="184356"/>
                    <a:pt x="1176406" y="184356"/>
                  </a:cubicBezTo>
                  <a:lnTo>
                    <a:pt x="28746" y="184356"/>
                  </a:lnTo>
                  <a:cubicBezTo>
                    <a:pt x="12870" y="184356"/>
                    <a:pt x="0" y="171487"/>
                    <a:pt x="0" y="155611"/>
                  </a:cubicBezTo>
                  <a:lnTo>
                    <a:pt x="0" y="28746"/>
                  </a:lnTo>
                  <a:cubicBezTo>
                    <a:pt x="0" y="12870"/>
                    <a:pt x="12870" y="0"/>
                    <a:pt x="28746" y="0"/>
                  </a:cubicBezTo>
                  <a:lnTo>
                    <a:pt x="1176406" y="0"/>
                  </a:lnTo>
                  <a:cubicBezTo>
                    <a:pt x="1184030" y="0"/>
                    <a:pt x="1191341" y="3029"/>
                    <a:pt x="1196732" y="8419"/>
                  </a:cubicBezTo>
                  <a:cubicBezTo>
                    <a:pt x="1202123" y="13810"/>
                    <a:pt x="1205152" y="21122"/>
                    <a:pt x="1205152" y="28746"/>
                  </a:cubicBezTo>
                  <a:close/>
                </a:path>
              </a:pathLst>
            </a:custGeom>
            <a:ln w="2857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205152" cy="231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6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82249" y="3915195"/>
            <a:ext cx="4835846" cy="768029"/>
            <a:chOff x="0" y="0"/>
            <a:chExt cx="1272886" cy="2021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72886" cy="202170"/>
            </a:xfrm>
            <a:custGeom>
              <a:avLst/>
              <a:gdLst/>
              <a:ahLst/>
              <a:cxnLst/>
              <a:rect r="r" b="b" t="t" l="l"/>
              <a:pathLst>
                <a:path h="202170" w="1272886">
                  <a:moveTo>
                    <a:pt x="1272886" y="27216"/>
                  </a:moveTo>
                  <a:lnTo>
                    <a:pt x="1272886" y="174954"/>
                  </a:lnTo>
                  <a:cubicBezTo>
                    <a:pt x="1272886" y="189985"/>
                    <a:pt x="1260701" y="202170"/>
                    <a:pt x="1245670" y="202170"/>
                  </a:cubicBezTo>
                  <a:lnTo>
                    <a:pt x="27216" y="202170"/>
                  </a:lnTo>
                  <a:cubicBezTo>
                    <a:pt x="12185" y="202170"/>
                    <a:pt x="0" y="189985"/>
                    <a:pt x="0" y="174954"/>
                  </a:cubicBezTo>
                  <a:lnTo>
                    <a:pt x="0" y="27216"/>
                  </a:lnTo>
                  <a:cubicBezTo>
                    <a:pt x="0" y="12185"/>
                    <a:pt x="12185" y="0"/>
                    <a:pt x="27216" y="0"/>
                  </a:cubicBezTo>
                  <a:lnTo>
                    <a:pt x="1245670" y="0"/>
                  </a:lnTo>
                  <a:cubicBezTo>
                    <a:pt x="1260701" y="0"/>
                    <a:pt x="1272886" y="12185"/>
                    <a:pt x="1272886" y="27216"/>
                  </a:cubicBezTo>
                  <a:close/>
                </a:path>
              </a:pathLst>
            </a:custGeom>
            <a:ln w="2857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272886" cy="249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6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597277" y="4397058"/>
            <a:ext cx="3690723" cy="1601015"/>
            <a:chOff x="0" y="0"/>
            <a:chExt cx="971468" cy="42143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1468" cy="421439"/>
            </a:xfrm>
            <a:custGeom>
              <a:avLst/>
              <a:gdLst/>
              <a:ahLst/>
              <a:cxnLst/>
              <a:rect r="r" b="b" t="t" l="l"/>
              <a:pathLst>
                <a:path h="421439" w="971468">
                  <a:moveTo>
                    <a:pt x="971468" y="35660"/>
                  </a:moveTo>
                  <a:lnTo>
                    <a:pt x="971468" y="385779"/>
                  </a:lnTo>
                  <a:cubicBezTo>
                    <a:pt x="971468" y="395237"/>
                    <a:pt x="967711" y="404307"/>
                    <a:pt x="961023" y="410995"/>
                  </a:cubicBezTo>
                  <a:cubicBezTo>
                    <a:pt x="954336" y="417682"/>
                    <a:pt x="945265" y="421439"/>
                    <a:pt x="935808" y="421439"/>
                  </a:cubicBezTo>
                  <a:lnTo>
                    <a:pt x="35660" y="421439"/>
                  </a:lnTo>
                  <a:cubicBezTo>
                    <a:pt x="26203" y="421439"/>
                    <a:pt x="17132" y="417682"/>
                    <a:pt x="10445" y="410995"/>
                  </a:cubicBezTo>
                  <a:cubicBezTo>
                    <a:pt x="3757" y="404307"/>
                    <a:pt x="0" y="395237"/>
                    <a:pt x="0" y="385779"/>
                  </a:cubicBezTo>
                  <a:lnTo>
                    <a:pt x="0" y="35660"/>
                  </a:lnTo>
                  <a:cubicBezTo>
                    <a:pt x="0" y="26203"/>
                    <a:pt x="3757" y="17132"/>
                    <a:pt x="10445" y="10445"/>
                  </a:cubicBezTo>
                  <a:cubicBezTo>
                    <a:pt x="17132" y="3757"/>
                    <a:pt x="26203" y="0"/>
                    <a:pt x="35660" y="0"/>
                  </a:cubicBezTo>
                  <a:lnTo>
                    <a:pt x="935808" y="0"/>
                  </a:lnTo>
                  <a:cubicBezTo>
                    <a:pt x="945265" y="0"/>
                    <a:pt x="954336" y="3757"/>
                    <a:pt x="961023" y="10445"/>
                  </a:cubicBezTo>
                  <a:cubicBezTo>
                    <a:pt x="967711" y="17132"/>
                    <a:pt x="971468" y="26203"/>
                    <a:pt x="971468" y="35660"/>
                  </a:cubicBezTo>
                  <a:close/>
                </a:path>
              </a:pathLst>
            </a:custGeom>
            <a:ln w="2857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71468" cy="469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62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5452" y="-514350"/>
            <a:ext cx="19038903" cy="2085381"/>
            <a:chOff x="0" y="0"/>
            <a:chExt cx="25385204" cy="278050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385204" cy="2101050"/>
              <a:chOff x="0" y="0"/>
              <a:chExt cx="5014361" cy="41502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014361" cy="415022"/>
              </a:xfrm>
              <a:custGeom>
                <a:avLst/>
                <a:gdLst/>
                <a:ahLst/>
                <a:cxnLst/>
                <a:rect r="r" b="b" t="t" l="l"/>
                <a:pathLst>
                  <a:path h="415022" w="5014361">
                    <a:moveTo>
                      <a:pt x="0" y="0"/>
                    </a:moveTo>
                    <a:lnTo>
                      <a:pt x="5014361" y="0"/>
                    </a:lnTo>
                    <a:lnTo>
                      <a:pt x="5014361" y="415022"/>
                    </a:lnTo>
                    <a:lnTo>
                      <a:pt x="0" y="415022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014361" cy="4626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8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5400000">
              <a:off x="12316082" y="-10968072"/>
              <a:ext cx="753040" cy="25385204"/>
            </a:xfrm>
            <a:custGeom>
              <a:avLst/>
              <a:gdLst/>
              <a:ahLst/>
              <a:cxnLst/>
              <a:rect r="r" b="b" t="t" l="l"/>
              <a:pathLst>
                <a:path h="25385204" w="753040">
                  <a:moveTo>
                    <a:pt x="0" y="0"/>
                  </a:moveTo>
                  <a:lnTo>
                    <a:pt x="753040" y="0"/>
                  </a:lnTo>
                  <a:lnTo>
                    <a:pt x="753040" y="25385204"/>
                  </a:lnTo>
                  <a:lnTo>
                    <a:pt x="0" y="25385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1000"/>
              </a:blip>
              <a:stretch>
                <a:fillRect l="0" t="-3557" r="-2022189" b="-2864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35625" y="1120205"/>
              <a:ext cx="1766279" cy="1660302"/>
            </a:xfrm>
            <a:custGeom>
              <a:avLst/>
              <a:gdLst/>
              <a:ahLst/>
              <a:cxnLst/>
              <a:rect r="r" b="b" t="t" l="l"/>
              <a:pathLst>
                <a:path h="1660302" w="1766279">
                  <a:moveTo>
                    <a:pt x="0" y="0"/>
                  </a:moveTo>
                  <a:lnTo>
                    <a:pt x="1766279" y="0"/>
                  </a:lnTo>
                  <a:lnTo>
                    <a:pt x="1766279" y="1660302"/>
                  </a:lnTo>
                  <a:lnTo>
                    <a:pt x="0" y="166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5400000">
            <a:off x="359015" y="1987944"/>
            <a:ext cx="570773" cy="355955"/>
          </a:xfrm>
          <a:custGeom>
            <a:avLst/>
            <a:gdLst/>
            <a:ahLst/>
            <a:cxnLst/>
            <a:rect r="r" b="b" t="t" l="l"/>
            <a:pathLst>
              <a:path h="355955" w="570773">
                <a:moveTo>
                  <a:pt x="0" y="0"/>
                </a:moveTo>
                <a:lnTo>
                  <a:pt x="570774" y="0"/>
                </a:lnTo>
                <a:lnTo>
                  <a:pt x="570774" y="355955"/>
                </a:lnTo>
                <a:lnTo>
                  <a:pt x="0" y="355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31846" y="1719801"/>
            <a:ext cx="9701790" cy="8627800"/>
          </a:xfrm>
          <a:custGeom>
            <a:avLst/>
            <a:gdLst/>
            <a:ahLst/>
            <a:cxnLst/>
            <a:rect r="r" b="b" t="t" l="l"/>
            <a:pathLst>
              <a:path h="8627800" w="9701790">
                <a:moveTo>
                  <a:pt x="0" y="0"/>
                </a:moveTo>
                <a:lnTo>
                  <a:pt x="9701791" y="0"/>
                </a:lnTo>
                <a:lnTo>
                  <a:pt x="9701791" y="8627800"/>
                </a:lnTo>
                <a:lnTo>
                  <a:pt x="0" y="8627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77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86414" y="1649203"/>
            <a:ext cx="6458885" cy="92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3"/>
              </a:lnSpc>
              <a:spcBef>
                <a:spcPct val="0"/>
              </a:spcBef>
            </a:pPr>
            <a:r>
              <a:rPr lang="en-US" b="true" sz="5438" spc="-54">
                <a:solidFill>
                  <a:srgbClr val="231F2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모델 성능 비교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31846" y="1148756"/>
            <a:ext cx="9701790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[전이학습 실험 결과 비교]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6425" y="2985476"/>
            <a:ext cx="6498136" cy="604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3835" indent="-281918" lvl="1">
              <a:lnSpc>
                <a:spcPts val="3734"/>
              </a:lnSpc>
              <a:buFont typeface="Arial"/>
              <a:buChar char="•"/>
            </a:pPr>
            <a:r>
              <a:rPr lang="en-US" sz="2611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수치상으로는 Partial/Full Fine-tuning이 100%를 기록</a:t>
            </a:r>
          </a:p>
          <a:p>
            <a:pPr algn="l">
              <a:lnSpc>
                <a:spcPts val="3734"/>
              </a:lnSpc>
            </a:pPr>
          </a:p>
          <a:p>
            <a:pPr algn="l" marL="563835" indent="-281918" lvl="1">
              <a:lnSpc>
                <a:spcPts val="3656"/>
              </a:lnSpc>
              <a:buFont typeface="Arial"/>
              <a:buChar char="•"/>
            </a:pPr>
            <a:r>
              <a:rPr lang="en-US" sz="2611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데이터가 145개뿐인 val set에서 나온 결과라 과적합 가능성 존재</a:t>
            </a:r>
          </a:p>
          <a:p>
            <a:pPr algn="l">
              <a:lnSpc>
                <a:spcPts val="3656"/>
              </a:lnSpc>
            </a:pPr>
          </a:p>
          <a:p>
            <a:pPr algn="l" marL="563835" indent="-281918" lvl="1">
              <a:lnSpc>
                <a:spcPts val="3656"/>
              </a:lnSpc>
              <a:buFont typeface="Arial"/>
              <a:buChar char="•"/>
            </a:pPr>
            <a:r>
              <a:rPr lang="en-US" sz="2611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train loss와</a:t>
            </a:r>
            <a:r>
              <a:rPr lang="en-US" sz="2611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 val loss 추이를 보면 Exp C 기준으로 epoch 7 이후 val loss가 올라가는 과적합 패턴이 관찰</a:t>
            </a:r>
          </a:p>
          <a:p>
            <a:pPr algn="l">
              <a:lnSpc>
                <a:spcPts val="3656"/>
              </a:lnSpc>
            </a:pPr>
          </a:p>
          <a:p>
            <a:pPr algn="l" marL="563835" indent="-281918" lvl="1">
              <a:lnSpc>
                <a:spcPts val="3656"/>
              </a:lnSpc>
              <a:buFont typeface="Arial"/>
              <a:buChar char="•"/>
            </a:pPr>
            <a:r>
              <a:rPr lang="en-US" sz="2611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신뢰할 수 있는 결과 기준 train / val loss가 둘다 자연스럽게 감소한 Exp D(94.48%)가 가장 일반화된 성능을 반영한다고 판단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737068" y="5746253"/>
            <a:ext cx="6550932" cy="2694071"/>
          </a:xfrm>
          <a:custGeom>
            <a:avLst/>
            <a:gdLst/>
            <a:ahLst/>
            <a:cxnLst/>
            <a:rect r="r" b="b" t="t" l="l"/>
            <a:pathLst>
              <a:path h="2694071" w="6550932">
                <a:moveTo>
                  <a:pt x="0" y="0"/>
                </a:moveTo>
                <a:lnTo>
                  <a:pt x="6550932" y="0"/>
                </a:lnTo>
                <a:lnTo>
                  <a:pt x="6550932" y="2694071"/>
                </a:lnTo>
                <a:lnTo>
                  <a:pt x="0" y="26940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5452" y="-514350"/>
            <a:ext cx="19038903" cy="2085381"/>
            <a:chOff x="0" y="0"/>
            <a:chExt cx="25385204" cy="278050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385204" cy="2101050"/>
              <a:chOff x="0" y="0"/>
              <a:chExt cx="5014361" cy="41502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014361" cy="415022"/>
              </a:xfrm>
              <a:custGeom>
                <a:avLst/>
                <a:gdLst/>
                <a:ahLst/>
                <a:cxnLst/>
                <a:rect r="r" b="b" t="t" l="l"/>
                <a:pathLst>
                  <a:path h="415022" w="5014361">
                    <a:moveTo>
                      <a:pt x="0" y="0"/>
                    </a:moveTo>
                    <a:lnTo>
                      <a:pt x="5014361" y="0"/>
                    </a:lnTo>
                    <a:lnTo>
                      <a:pt x="5014361" y="415022"/>
                    </a:lnTo>
                    <a:lnTo>
                      <a:pt x="0" y="415022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014361" cy="4626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8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5400000">
              <a:off x="12316082" y="-10968072"/>
              <a:ext cx="753040" cy="25385204"/>
            </a:xfrm>
            <a:custGeom>
              <a:avLst/>
              <a:gdLst/>
              <a:ahLst/>
              <a:cxnLst/>
              <a:rect r="r" b="b" t="t" l="l"/>
              <a:pathLst>
                <a:path h="25385204" w="753040">
                  <a:moveTo>
                    <a:pt x="0" y="0"/>
                  </a:moveTo>
                  <a:lnTo>
                    <a:pt x="753040" y="0"/>
                  </a:lnTo>
                  <a:lnTo>
                    <a:pt x="753040" y="25385204"/>
                  </a:lnTo>
                  <a:lnTo>
                    <a:pt x="0" y="25385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1000"/>
              </a:blip>
              <a:stretch>
                <a:fillRect l="0" t="-3557" r="-2022189" b="-2864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35625" y="1120205"/>
              <a:ext cx="1766279" cy="1660302"/>
            </a:xfrm>
            <a:custGeom>
              <a:avLst/>
              <a:gdLst/>
              <a:ahLst/>
              <a:cxnLst/>
              <a:rect r="r" b="b" t="t" l="l"/>
              <a:pathLst>
                <a:path h="1660302" w="1766279">
                  <a:moveTo>
                    <a:pt x="0" y="0"/>
                  </a:moveTo>
                  <a:lnTo>
                    <a:pt x="1766279" y="0"/>
                  </a:lnTo>
                  <a:lnTo>
                    <a:pt x="1766279" y="1660302"/>
                  </a:lnTo>
                  <a:lnTo>
                    <a:pt x="0" y="166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5400000">
            <a:off x="1166570" y="2206985"/>
            <a:ext cx="570773" cy="355955"/>
          </a:xfrm>
          <a:custGeom>
            <a:avLst/>
            <a:gdLst/>
            <a:ahLst/>
            <a:cxnLst/>
            <a:rect r="r" b="b" t="t" l="l"/>
            <a:pathLst>
              <a:path h="355955" w="570773">
                <a:moveTo>
                  <a:pt x="0" y="0"/>
                </a:moveTo>
                <a:lnTo>
                  <a:pt x="570774" y="0"/>
                </a:lnTo>
                <a:lnTo>
                  <a:pt x="570774" y="355954"/>
                </a:lnTo>
                <a:lnTo>
                  <a:pt x="0" y="3559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2064216" y="5090140"/>
            <a:ext cx="6458885" cy="0"/>
          </a:xfrm>
          <a:prstGeom prst="line">
            <a:avLst/>
          </a:prstGeom>
          <a:ln cap="flat" w="28575">
            <a:solidFill>
              <a:srgbClr val="CAC8C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641442" y="5090140"/>
            <a:ext cx="6458885" cy="0"/>
          </a:xfrm>
          <a:prstGeom prst="line">
            <a:avLst/>
          </a:prstGeom>
          <a:ln cap="flat" w="28575">
            <a:solidFill>
              <a:srgbClr val="CAC8C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-5400000">
            <a:off x="8508856" y="5986884"/>
            <a:ext cx="1146831" cy="468301"/>
            <a:chOff x="0" y="0"/>
            <a:chExt cx="179108" cy="731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9108" cy="73138"/>
            </a:xfrm>
            <a:custGeom>
              <a:avLst/>
              <a:gdLst/>
              <a:ahLst/>
              <a:cxnLst/>
              <a:rect r="r" b="b" t="t" l="l"/>
              <a:pathLst>
                <a:path h="73138" w="179108">
                  <a:moveTo>
                    <a:pt x="89554" y="73138"/>
                  </a:moveTo>
                  <a:lnTo>
                    <a:pt x="179108" y="0"/>
                  </a:lnTo>
                  <a:lnTo>
                    <a:pt x="0" y="0"/>
                  </a:lnTo>
                  <a:lnTo>
                    <a:pt x="89554" y="73138"/>
                  </a:lnTo>
                  <a:close/>
                </a:path>
              </a:pathLst>
            </a:custGeom>
            <a:solidFill>
              <a:srgbClr val="CAC8C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27986" y="-32876"/>
              <a:ext cx="123137" cy="72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748642" y="4276745"/>
            <a:ext cx="3719851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b="true" sz="2900" spc="-29">
                <a:solidFill>
                  <a:srgbClr val="231F20"/>
                </a:solidFill>
                <a:latin typeface="Noto Sans Kr Semi-Bold"/>
                <a:ea typeface="Noto Sans Kr Semi-Bold"/>
                <a:cs typeface="Noto Sans Kr Semi-Bold"/>
                <a:sym typeface="Noto Sans Kr Semi-Bold"/>
              </a:rPr>
              <a:t>어려웠던 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08116" y="4276745"/>
            <a:ext cx="2750377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b="true" sz="2900" spc="-29">
                <a:solidFill>
                  <a:srgbClr val="231F20"/>
                </a:solidFill>
                <a:latin typeface="Noto Sans Kr Semi-Bold"/>
                <a:ea typeface="Noto Sans Kr Semi-Bold"/>
                <a:cs typeface="Noto Sans Kr Semi-Bold"/>
                <a:sym typeface="Noto Sans Kr Semi-Bold"/>
              </a:rPr>
              <a:t>해결 방법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10987" y="1868244"/>
            <a:ext cx="8591866" cy="92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3"/>
              </a:lnSpc>
              <a:spcBef>
                <a:spcPct val="0"/>
              </a:spcBef>
            </a:pPr>
            <a:r>
              <a:rPr lang="en-US" b="true" sz="5438" spc="-54">
                <a:solidFill>
                  <a:srgbClr val="231F2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어려웠던 점과 해결 방법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64216" y="5333305"/>
            <a:ext cx="6458885" cy="210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3420"/>
              </a:lnSpc>
              <a:buFont typeface="Arial"/>
              <a:buChar char="•"/>
            </a:pPr>
            <a:r>
              <a:rPr lang="en-US" sz="2000" spc="-20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증강을 적용했는데도 성능이 바로 오르지 않는 현상</a:t>
            </a:r>
          </a:p>
          <a:p>
            <a:pPr algn="just" marL="431801" indent="-215900" lvl="1">
              <a:lnSpc>
                <a:spcPts val="3420"/>
              </a:lnSpc>
              <a:buFont typeface="Arial"/>
              <a:buChar char="•"/>
            </a:pPr>
            <a:r>
              <a:rPr lang="en-US" sz="2000" spc="-20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DataLoader의 batch 구조와 torch.Size 출력 의미를 이해하는 데 어려움이 있었음</a:t>
            </a:r>
          </a:p>
          <a:p>
            <a:pPr algn="just" marL="431801" indent="-215900" lvl="1">
              <a:lnSpc>
                <a:spcPts val="3420"/>
              </a:lnSpc>
              <a:buFont typeface="Arial"/>
              <a:buChar char="•"/>
            </a:pPr>
            <a:r>
              <a:rPr lang="en-US" sz="2000" spc="-20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val_acc 100%가 과적합인지 판단하기 어려움 </a:t>
            </a:r>
          </a:p>
          <a:p>
            <a:pPr algn="just" marL="431801" indent="-215900" lvl="1">
              <a:lnSpc>
                <a:spcPts val="3420"/>
              </a:lnSpc>
              <a:buFont typeface="Arial"/>
              <a:buChar char="•"/>
            </a:pPr>
            <a:r>
              <a:rPr lang="en-US" sz="2000" spc="-20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과적합이 많이 발생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3126014" y="4375170"/>
            <a:ext cx="358140" cy="358140"/>
          </a:xfrm>
          <a:custGeom>
            <a:avLst/>
            <a:gdLst/>
            <a:ahLst/>
            <a:cxnLst/>
            <a:rect r="r" b="b" t="t" l="l"/>
            <a:pathLst>
              <a:path h="358140" w="358140">
                <a:moveTo>
                  <a:pt x="0" y="0"/>
                </a:moveTo>
                <a:lnTo>
                  <a:pt x="358140" y="0"/>
                </a:lnTo>
                <a:lnTo>
                  <a:pt x="358140" y="358140"/>
                </a:lnTo>
                <a:lnTo>
                  <a:pt x="0" y="358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183276" y="4375170"/>
            <a:ext cx="358140" cy="358140"/>
          </a:xfrm>
          <a:custGeom>
            <a:avLst/>
            <a:gdLst/>
            <a:ahLst/>
            <a:cxnLst/>
            <a:rect r="r" b="b" t="t" l="l"/>
            <a:pathLst>
              <a:path h="358140" w="358140">
                <a:moveTo>
                  <a:pt x="0" y="0"/>
                </a:moveTo>
                <a:lnTo>
                  <a:pt x="358140" y="0"/>
                </a:lnTo>
                <a:lnTo>
                  <a:pt x="358140" y="358140"/>
                </a:lnTo>
                <a:lnTo>
                  <a:pt x="0" y="358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764899" y="5409227"/>
            <a:ext cx="6458885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231F20"/>
                </a:solidFill>
                <a:latin typeface="Arimo"/>
                <a:ea typeface="Arimo"/>
                <a:cs typeface="Arimo"/>
                <a:sym typeface="Arimo"/>
              </a:rPr>
              <a:t>검증 데이터에는 augmentation을 제외해 기준 고정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231F20"/>
                </a:solidFill>
                <a:latin typeface="Arimo"/>
                <a:ea typeface="Arimo"/>
                <a:cs typeface="Arimo"/>
                <a:sym typeface="Arimo"/>
              </a:rPr>
              <a:t>직접 batch 데이터를 출력하며 이미지 shape와 batch_size 구조를 확인함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231F20"/>
                </a:solidFill>
                <a:latin typeface="Arimo"/>
                <a:ea typeface="Arimo"/>
                <a:cs typeface="Arimo"/>
                <a:sym typeface="Arimo"/>
              </a:rPr>
              <a:t>에폭별 train/val loss 추이를 비교하여 val loss가 상승하는 시점 확인 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231F20"/>
                </a:solidFill>
                <a:latin typeface="Arimo"/>
                <a:ea typeface="Arimo"/>
                <a:cs typeface="Arimo"/>
                <a:sym typeface="Arimo"/>
              </a:rPr>
              <a:t>이는 완전히 해결하지 못함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5452" y="-514350"/>
            <a:ext cx="19038903" cy="2085381"/>
            <a:chOff x="0" y="0"/>
            <a:chExt cx="25385204" cy="278050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385204" cy="2101050"/>
              <a:chOff x="0" y="0"/>
              <a:chExt cx="5014361" cy="41502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014361" cy="415022"/>
              </a:xfrm>
              <a:custGeom>
                <a:avLst/>
                <a:gdLst/>
                <a:ahLst/>
                <a:cxnLst/>
                <a:rect r="r" b="b" t="t" l="l"/>
                <a:pathLst>
                  <a:path h="415022" w="5014361">
                    <a:moveTo>
                      <a:pt x="0" y="0"/>
                    </a:moveTo>
                    <a:lnTo>
                      <a:pt x="5014361" y="0"/>
                    </a:lnTo>
                    <a:lnTo>
                      <a:pt x="5014361" y="415022"/>
                    </a:lnTo>
                    <a:lnTo>
                      <a:pt x="0" y="415022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014361" cy="4626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8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5400000">
              <a:off x="12316082" y="-10968072"/>
              <a:ext cx="753040" cy="25385204"/>
            </a:xfrm>
            <a:custGeom>
              <a:avLst/>
              <a:gdLst/>
              <a:ahLst/>
              <a:cxnLst/>
              <a:rect r="r" b="b" t="t" l="l"/>
              <a:pathLst>
                <a:path h="25385204" w="753040">
                  <a:moveTo>
                    <a:pt x="0" y="0"/>
                  </a:moveTo>
                  <a:lnTo>
                    <a:pt x="753040" y="0"/>
                  </a:lnTo>
                  <a:lnTo>
                    <a:pt x="753040" y="25385204"/>
                  </a:lnTo>
                  <a:lnTo>
                    <a:pt x="0" y="25385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1000"/>
              </a:blip>
              <a:stretch>
                <a:fillRect l="0" t="-3557" r="-2022189" b="-2864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35625" y="1120205"/>
              <a:ext cx="1766279" cy="1660302"/>
            </a:xfrm>
            <a:custGeom>
              <a:avLst/>
              <a:gdLst/>
              <a:ahLst/>
              <a:cxnLst/>
              <a:rect r="r" b="b" t="t" l="l"/>
              <a:pathLst>
                <a:path h="1660302" w="1766279">
                  <a:moveTo>
                    <a:pt x="0" y="0"/>
                  </a:moveTo>
                  <a:lnTo>
                    <a:pt x="1766279" y="0"/>
                  </a:lnTo>
                  <a:lnTo>
                    <a:pt x="1766279" y="1660302"/>
                  </a:lnTo>
                  <a:lnTo>
                    <a:pt x="0" y="166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8404" y="3108596"/>
            <a:ext cx="16791193" cy="6623172"/>
            <a:chOff x="0" y="0"/>
            <a:chExt cx="4422372" cy="17443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22372" cy="1744375"/>
            </a:xfrm>
            <a:custGeom>
              <a:avLst/>
              <a:gdLst/>
              <a:ahLst/>
              <a:cxnLst/>
              <a:rect r="r" b="b" t="t" l="l"/>
              <a:pathLst>
                <a:path h="1744375" w="4422372">
                  <a:moveTo>
                    <a:pt x="0" y="0"/>
                  </a:moveTo>
                  <a:lnTo>
                    <a:pt x="4422372" y="0"/>
                  </a:lnTo>
                  <a:lnTo>
                    <a:pt x="4422372" y="1744375"/>
                  </a:lnTo>
                  <a:lnTo>
                    <a:pt x="0" y="1744375"/>
                  </a:lnTo>
                  <a:close/>
                </a:path>
              </a:pathLst>
            </a:custGeom>
            <a:ln w="28575" cap="sq">
              <a:solidFill>
                <a:srgbClr val="CAC8C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422372" cy="1792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5400000">
            <a:off x="1043775" y="2099575"/>
            <a:ext cx="570773" cy="355955"/>
          </a:xfrm>
          <a:custGeom>
            <a:avLst/>
            <a:gdLst/>
            <a:ahLst/>
            <a:cxnLst/>
            <a:rect r="r" b="b" t="t" l="l"/>
            <a:pathLst>
              <a:path h="355955" w="570773">
                <a:moveTo>
                  <a:pt x="0" y="0"/>
                </a:moveTo>
                <a:lnTo>
                  <a:pt x="570773" y="0"/>
                </a:lnTo>
                <a:lnTo>
                  <a:pt x="570773" y="355955"/>
                </a:lnTo>
                <a:lnTo>
                  <a:pt x="0" y="355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8853" y="5273964"/>
            <a:ext cx="10662762" cy="4225120"/>
          </a:xfrm>
          <a:custGeom>
            <a:avLst/>
            <a:gdLst/>
            <a:ahLst/>
            <a:cxnLst/>
            <a:rect r="r" b="b" t="t" l="l"/>
            <a:pathLst>
              <a:path h="4225120" w="10662762">
                <a:moveTo>
                  <a:pt x="0" y="0"/>
                </a:moveTo>
                <a:lnTo>
                  <a:pt x="10662762" y="0"/>
                </a:lnTo>
                <a:lnTo>
                  <a:pt x="10662762" y="4225120"/>
                </a:lnTo>
                <a:lnTo>
                  <a:pt x="0" y="4225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988191" y="1760835"/>
            <a:ext cx="6458885" cy="92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3"/>
              </a:lnSpc>
              <a:spcBef>
                <a:spcPct val="0"/>
              </a:spcBef>
            </a:pPr>
            <a:r>
              <a:rPr lang="en-US" b="true" sz="5438" spc="-54">
                <a:solidFill>
                  <a:srgbClr val="231F2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생성형 AI 사용 방법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226980"/>
            <a:ext cx="11714226" cy="147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3979"/>
              </a:lnSpc>
              <a:buFont typeface="Arial"/>
              <a:buChar char="•"/>
            </a:pPr>
            <a:r>
              <a:rPr lang="en-US" sz="2300" spc="-23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코드 실행 흐름 점검</a:t>
            </a:r>
          </a:p>
          <a:p>
            <a:pPr algn="l" marL="496572" indent="-248286" lvl="1">
              <a:lnSpc>
                <a:spcPts val="3979"/>
              </a:lnSpc>
              <a:buFont typeface="Arial"/>
              <a:buChar char="•"/>
            </a:pPr>
            <a:r>
              <a:rPr lang="en-US" sz="2300" spc="-23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ResNet18, ResNet50 모델 선택 타당성 확인</a:t>
            </a:r>
          </a:p>
          <a:p>
            <a:pPr algn="l" marL="496572" indent="-248286" lvl="1">
              <a:lnSpc>
                <a:spcPts val="3979"/>
              </a:lnSpc>
              <a:buFont typeface="Arial"/>
              <a:buChar char="•"/>
            </a:pPr>
            <a:r>
              <a:rPr lang="en-US" sz="2300" spc="-23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이미지 전처리 및 Normalize 개념 학습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5452" y="-514350"/>
            <a:ext cx="19038903" cy="2085381"/>
            <a:chOff x="0" y="0"/>
            <a:chExt cx="25385204" cy="278050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385204" cy="2101050"/>
              <a:chOff x="0" y="0"/>
              <a:chExt cx="5014361" cy="41502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014361" cy="415022"/>
              </a:xfrm>
              <a:custGeom>
                <a:avLst/>
                <a:gdLst/>
                <a:ahLst/>
                <a:cxnLst/>
                <a:rect r="r" b="b" t="t" l="l"/>
                <a:pathLst>
                  <a:path h="415022" w="5014361">
                    <a:moveTo>
                      <a:pt x="0" y="0"/>
                    </a:moveTo>
                    <a:lnTo>
                      <a:pt x="5014361" y="0"/>
                    </a:lnTo>
                    <a:lnTo>
                      <a:pt x="5014361" y="415022"/>
                    </a:lnTo>
                    <a:lnTo>
                      <a:pt x="0" y="415022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014361" cy="4626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8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5400000">
              <a:off x="12316082" y="-10968072"/>
              <a:ext cx="753040" cy="25385204"/>
            </a:xfrm>
            <a:custGeom>
              <a:avLst/>
              <a:gdLst/>
              <a:ahLst/>
              <a:cxnLst/>
              <a:rect r="r" b="b" t="t" l="l"/>
              <a:pathLst>
                <a:path h="25385204" w="753040">
                  <a:moveTo>
                    <a:pt x="0" y="0"/>
                  </a:moveTo>
                  <a:lnTo>
                    <a:pt x="753040" y="0"/>
                  </a:lnTo>
                  <a:lnTo>
                    <a:pt x="753040" y="25385204"/>
                  </a:lnTo>
                  <a:lnTo>
                    <a:pt x="0" y="25385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1000"/>
              </a:blip>
              <a:stretch>
                <a:fillRect l="0" t="-3557" r="-2022189" b="-2864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35625" y="1120205"/>
              <a:ext cx="1766279" cy="1660302"/>
            </a:xfrm>
            <a:custGeom>
              <a:avLst/>
              <a:gdLst/>
              <a:ahLst/>
              <a:cxnLst/>
              <a:rect r="r" b="b" t="t" l="l"/>
              <a:pathLst>
                <a:path h="1660302" w="1766279">
                  <a:moveTo>
                    <a:pt x="0" y="0"/>
                  </a:moveTo>
                  <a:lnTo>
                    <a:pt x="1766279" y="0"/>
                  </a:lnTo>
                  <a:lnTo>
                    <a:pt x="1766279" y="1660302"/>
                  </a:lnTo>
                  <a:lnTo>
                    <a:pt x="0" y="166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5400000">
            <a:off x="1074802" y="2206985"/>
            <a:ext cx="570773" cy="355955"/>
          </a:xfrm>
          <a:custGeom>
            <a:avLst/>
            <a:gdLst/>
            <a:ahLst/>
            <a:cxnLst/>
            <a:rect r="r" b="b" t="t" l="l"/>
            <a:pathLst>
              <a:path h="355955" w="570773">
                <a:moveTo>
                  <a:pt x="0" y="0"/>
                </a:moveTo>
                <a:lnTo>
                  <a:pt x="570773" y="0"/>
                </a:lnTo>
                <a:lnTo>
                  <a:pt x="570773" y="355954"/>
                </a:lnTo>
                <a:lnTo>
                  <a:pt x="0" y="3559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19218" y="1868244"/>
            <a:ext cx="6458885" cy="92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3"/>
              </a:lnSpc>
              <a:spcBef>
                <a:spcPct val="0"/>
              </a:spcBef>
            </a:pPr>
            <a:r>
              <a:rPr lang="en-US" b="true" sz="5438" spc="-54">
                <a:solidFill>
                  <a:srgbClr val="231F2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팀원별 역할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90587" y="3151961"/>
            <a:ext cx="4998217" cy="6014743"/>
            <a:chOff x="0" y="0"/>
            <a:chExt cx="1316403" cy="1584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6403" cy="1584130"/>
            </a:xfrm>
            <a:custGeom>
              <a:avLst/>
              <a:gdLst/>
              <a:ahLst/>
              <a:cxnLst/>
              <a:rect r="r" b="b" t="t" l="l"/>
              <a:pathLst>
                <a:path h="1584130" w="1316403">
                  <a:moveTo>
                    <a:pt x="0" y="0"/>
                  </a:moveTo>
                  <a:lnTo>
                    <a:pt x="1316403" y="0"/>
                  </a:lnTo>
                  <a:lnTo>
                    <a:pt x="1316403" y="1584130"/>
                  </a:lnTo>
                  <a:lnTo>
                    <a:pt x="0" y="1584130"/>
                  </a:lnTo>
                  <a:close/>
                </a:path>
              </a:pathLst>
            </a:custGeom>
            <a:solidFill>
              <a:srgbClr val="F9F9F9"/>
            </a:solidFill>
            <a:ln w="28575" cap="sq">
              <a:solidFill>
                <a:srgbClr val="CAC8C8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16403" cy="1622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88150" y="3698375"/>
            <a:ext cx="358140" cy="358140"/>
          </a:xfrm>
          <a:custGeom>
            <a:avLst/>
            <a:gdLst/>
            <a:ahLst/>
            <a:cxnLst/>
            <a:rect r="r" b="b" t="t" l="l"/>
            <a:pathLst>
              <a:path h="358140" w="358140">
                <a:moveTo>
                  <a:pt x="0" y="0"/>
                </a:moveTo>
                <a:lnTo>
                  <a:pt x="358140" y="0"/>
                </a:lnTo>
                <a:lnTo>
                  <a:pt x="358140" y="358140"/>
                </a:lnTo>
                <a:lnTo>
                  <a:pt x="0" y="358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70828" y="4854075"/>
            <a:ext cx="4437736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-25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구조 분석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-25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CSV 처리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-25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Dataset/DataLoader 구현</a:t>
            </a:r>
          </a:p>
          <a:p>
            <a:pPr algn="l" marL="561337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spc="-25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증강 방식 정의 및 시각화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41154" y="3634240"/>
            <a:ext cx="2776682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pc="-25">
                <a:solidFill>
                  <a:srgbClr val="231F20"/>
                </a:solidFill>
                <a:latin typeface="Noto Sans Kr Semi-Bold"/>
                <a:ea typeface="Noto Sans Kr Semi-Bold"/>
                <a:cs typeface="Noto Sans Kr Semi-Bold"/>
                <a:sym typeface="Noto Sans Kr Semi-Bold"/>
              </a:rPr>
              <a:t>A파트 - 이유림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25835" y="3151961"/>
            <a:ext cx="4998217" cy="6014743"/>
            <a:chOff x="0" y="0"/>
            <a:chExt cx="1316403" cy="15841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16403" cy="1584130"/>
            </a:xfrm>
            <a:custGeom>
              <a:avLst/>
              <a:gdLst/>
              <a:ahLst/>
              <a:cxnLst/>
              <a:rect r="r" b="b" t="t" l="l"/>
              <a:pathLst>
                <a:path h="1584130" w="1316403">
                  <a:moveTo>
                    <a:pt x="0" y="0"/>
                  </a:moveTo>
                  <a:lnTo>
                    <a:pt x="1316403" y="0"/>
                  </a:lnTo>
                  <a:lnTo>
                    <a:pt x="1316403" y="1584130"/>
                  </a:lnTo>
                  <a:lnTo>
                    <a:pt x="0" y="1584130"/>
                  </a:lnTo>
                  <a:close/>
                </a:path>
              </a:pathLst>
            </a:custGeom>
            <a:solidFill>
              <a:srgbClr val="F9F9F9"/>
            </a:solidFill>
            <a:ln w="28575" cap="sq">
              <a:solidFill>
                <a:srgbClr val="CAC8C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16403" cy="1622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223398" y="3698375"/>
            <a:ext cx="358140" cy="358140"/>
          </a:xfrm>
          <a:custGeom>
            <a:avLst/>
            <a:gdLst/>
            <a:ahLst/>
            <a:cxnLst/>
            <a:rect r="r" b="b" t="t" l="l"/>
            <a:pathLst>
              <a:path h="358140" w="358140">
                <a:moveTo>
                  <a:pt x="0" y="0"/>
                </a:moveTo>
                <a:lnTo>
                  <a:pt x="358140" y="0"/>
                </a:lnTo>
                <a:lnTo>
                  <a:pt x="358140" y="358140"/>
                </a:lnTo>
                <a:lnTo>
                  <a:pt x="0" y="358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828940" y="4854075"/>
            <a:ext cx="4671608" cy="226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-26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SimpleCNN 구현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-26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학습/검증 함수 구현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-26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하이퍼파라미터 튜닝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-26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증강 방식별 CNN 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spc="-26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       성능 비교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76402" y="3634240"/>
            <a:ext cx="2776682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pc="-25">
                <a:solidFill>
                  <a:srgbClr val="231F20"/>
                </a:solidFill>
                <a:latin typeface="Noto Sans Kr Semi-Bold"/>
                <a:ea typeface="Noto Sans Kr Semi-Bold"/>
                <a:cs typeface="Noto Sans Kr Semi-Bold"/>
                <a:sym typeface="Noto Sans Kr Semi-Bold"/>
              </a:rPr>
              <a:t>B파트 - 김예지</a:t>
            </a:r>
          </a:p>
        </p:txBody>
      </p:sp>
      <p:sp>
        <p:nvSpPr>
          <p:cNvPr name="AutoShape 22" id="22"/>
          <p:cNvSpPr/>
          <p:nvPr/>
        </p:nvSpPr>
        <p:spPr>
          <a:xfrm>
            <a:off x="7223398" y="4311605"/>
            <a:ext cx="3807160" cy="0"/>
          </a:xfrm>
          <a:prstGeom prst="line">
            <a:avLst/>
          </a:prstGeom>
          <a:ln cap="flat" w="28575">
            <a:solidFill>
              <a:srgbClr val="CAC8C8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2261083" y="3151961"/>
            <a:ext cx="4998217" cy="6014743"/>
            <a:chOff x="0" y="0"/>
            <a:chExt cx="1316403" cy="15841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16403" cy="1584130"/>
            </a:xfrm>
            <a:custGeom>
              <a:avLst/>
              <a:gdLst/>
              <a:ahLst/>
              <a:cxnLst/>
              <a:rect r="r" b="b" t="t" l="l"/>
              <a:pathLst>
                <a:path h="1584130" w="1316403">
                  <a:moveTo>
                    <a:pt x="0" y="0"/>
                  </a:moveTo>
                  <a:lnTo>
                    <a:pt x="1316403" y="0"/>
                  </a:lnTo>
                  <a:lnTo>
                    <a:pt x="1316403" y="1584130"/>
                  </a:lnTo>
                  <a:lnTo>
                    <a:pt x="0" y="1584130"/>
                  </a:lnTo>
                  <a:close/>
                </a:path>
              </a:pathLst>
            </a:custGeom>
            <a:solidFill>
              <a:srgbClr val="F9F9F9"/>
            </a:solidFill>
            <a:ln w="28575" cap="sq">
              <a:solidFill>
                <a:srgbClr val="CAC8C8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16403" cy="1622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2958646" y="3698375"/>
            <a:ext cx="358140" cy="358140"/>
          </a:xfrm>
          <a:custGeom>
            <a:avLst/>
            <a:gdLst/>
            <a:ahLst/>
            <a:cxnLst/>
            <a:rect r="r" b="b" t="t" l="l"/>
            <a:pathLst>
              <a:path h="358140" w="358140">
                <a:moveTo>
                  <a:pt x="0" y="0"/>
                </a:moveTo>
                <a:lnTo>
                  <a:pt x="358140" y="0"/>
                </a:lnTo>
                <a:lnTo>
                  <a:pt x="358140" y="358140"/>
                </a:lnTo>
                <a:lnTo>
                  <a:pt x="0" y="358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543227" y="4854075"/>
            <a:ext cx="4437736" cy="226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-26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모델 구조 비교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-26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ResNet18, ResNet50         전이학습 구현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-26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전이학습 모델 성능 비교 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26">
                <a:solidFill>
                  <a:srgbClr val="231F20"/>
                </a:solidFill>
                <a:latin typeface="Noto Sans Kr"/>
                <a:ea typeface="Noto Sans Kr"/>
                <a:cs typeface="Noto Sans Kr"/>
                <a:sym typeface="Noto Sans Kr"/>
              </a:rPr>
              <a:t>freeze 전략 비교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11650" y="3634240"/>
            <a:ext cx="2776682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pc="-25">
                <a:solidFill>
                  <a:srgbClr val="231F20"/>
                </a:solidFill>
                <a:latin typeface="Noto Sans Kr Semi-Bold"/>
                <a:ea typeface="Noto Sans Kr Semi-Bold"/>
                <a:cs typeface="Noto Sans Kr Semi-Bold"/>
                <a:sym typeface="Noto Sans Kr Semi-Bold"/>
              </a:rPr>
              <a:t>C파트 - 신윤서</a:t>
            </a:r>
          </a:p>
        </p:txBody>
      </p:sp>
      <p:sp>
        <p:nvSpPr>
          <p:cNvPr name="AutoShape 29" id="29"/>
          <p:cNvSpPr/>
          <p:nvPr/>
        </p:nvSpPr>
        <p:spPr>
          <a:xfrm flipV="true">
            <a:off x="12958646" y="4311605"/>
            <a:ext cx="3807160" cy="0"/>
          </a:xfrm>
          <a:prstGeom prst="line">
            <a:avLst/>
          </a:prstGeom>
          <a:ln cap="flat" w="28575">
            <a:solidFill>
              <a:srgbClr val="CAC8C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379238" y="4325893"/>
            <a:ext cx="3807160" cy="0"/>
          </a:xfrm>
          <a:prstGeom prst="line">
            <a:avLst/>
          </a:prstGeom>
          <a:ln cap="flat" w="28575">
            <a:solidFill>
              <a:srgbClr val="CAC8C8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5452" y="-514350"/>
            <a:ext cx="19038903" cy="2085381"/>
            <a:chOff x="0" y="0"/>
            <a:chExt cx="25385204" cy="278050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385204" cy="2101050"/>
              <a:chOff x="0" y="0"/>
              <a:chExt cx="5014361" cy="41502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014361" cy="415022"/>
              </a:xfrm>
              <a:custGeom>
                <a:avLst/>
                <a:gdLst/>
                <a:ahLst/>
                <a:cxnLst/>
                <a:rect r="r" b="b" t="t" l="l"/>
                <a:pathLst>
                  <a:path h="415022" w="5014361">
                    <a:moveTo>
                      <a:pt x="0" y="0"/>
                    </a:moveTo>
                    <a:lnTo>
                      <a:pt x="5014361" y="0"/>
                    </a:lnTo>
                    <a:lnTo>
                      <a:pt x="5014361" y="415022"/>
                    </a:lnTo>
                    <a:lnTo>
                      <a:pt x="0" y="415022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014361" cy="4626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8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5400000">
              <a:off x="12316082" y="-10968072"/>
              <a:ext cx="753040" cy="25385204"/>
            </a:xfrm>
            <a:custGeom>
              <a:avLst/>
              <a:gdLst/>
              <a:ahLst/>
              <a:cxnLst/>
              <a:rect r="r" b="b" t="t" l="l"/>
              <a:pathLst>
                <a:path h="25385204" w="753040">
                  <a:moveTo>
                    <a:pt x="0" y="0"/>
                  </a:moveTo>
                  <a:lnTo>
                    <a:pt x="753040" y="0"/>
                  </a:lnTo>
                  <a:lnTo>
                    <a:pt x="753040" y="25385204"/>
                  </a:lnTo>
                  <a:lnTo>
                    <a:pt x="0" y="25385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557" r="-2022189" b="-2864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35625" y="1120205"/>
              <a:ext cx="1766279" cy="1660302"/>
            </a:xfrm>
            <a:custGeom>
              <a:avLst/>
              <a:gdLst/>
              <a:ahLst/>
              <a:cxnLst/>
              <a:rect r="r" b="b" t="t" l="l"/>
              <a:pathLst>
                <a:path h="1660302" w="1766279">
                  <a:moveTo>
                    <a:pt x="0" y="0"/>
                  </a:moveTo>
                  <a:lnTo>
                    <a:pt x="1766279" y="0"/>
                  </a:lnTo>
                  <a:lnTo>
                    <a:pt x="1766279" y="1660302"/>
                  </a:lnTo>
                  <a:lnTo>
                    <a:pt x="0" y="166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937024" y="4214561"/>
            <a:ext cx="6413951" cy="166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22"/>
              </a:lnSpc>
              <a:spcBef>
                <a:spcPct val="0"/>
              </a:spcBef>
            </a:pPr>
            <a:r>
              <a:rPr lang="en-US" b="true" sz="9730" spc="-97">
                <a:solidFill>
                  <a:srgbClr val="231F20"/>
                </a:solidFill>
                <a:latin typeface="Noto Sans Kr Ultra-Bold"/>
                <a:ea typeface="Noto Sans Kr Ultra-Bold"/>
                <a:cs typeface="Noto Sans Kr Ultra-Bold"/>
                <a:sym typeface="Noto Sans Kr Ultra-Bold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DAHJ-kxUAs0</dc:identifier>
  <dcterms:modified xsi:type="dcterms:W3CDTF">2011-08-01T06:04:30Z</dcterms:modified>
  <cp:revision>1</cp:revision>
  <dc:title>B팀 이유림 김예지 신윤서</dc:title>
</cp:coreProperties>
</file>